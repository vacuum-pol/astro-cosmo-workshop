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18.xml" ContentType="application/vnd.openxmlformats-officedocument.presentationml.slide+xml"/>
  <Override PartName="/ppt/slides/slide5.xml" ContentType="application/vnd.openxmlformats-officedocument.presentationml.slide+xml"/>
  <Override PartName="/ppt/slides/slide24.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6.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media/image12.gif" ContentType="image/gif"/>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AABE2BD-2193-41DF-A293-E49062466499}"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GB" sz="3200" b="0" u="none" strike="noStrike">
                <a:solidFill>
                  <a:schemeClr val="dk1"/>
                </a:solidFill>
                <a:effectLst/>
                <a:uFillTx/>
                <a:latin typeface="Aptos Display"/>
              </a:defRPr>
            </a:lvl1pPr>
          </a:lstStyle>
          <a:p>
            <a:pPr indent="0" algn="l" defTabSz="914400">
              <a:lnSpc>
                <a:spcPct val="90000"/>
              </a:lnSpc>
              <a:buNone/>
              <a:tabLst>
                <a:tab pos="0" algn="l"/>
              </a:tabLst>
            </a:pPr>
            <a:r>
              <a:rPr lang="en-GB" sz="3200" b="0" u="none" strike="noStrike">
                <a:solidFill>
                  <a:schemeClr val="dk1"/>
                </a:solidFill>
                <a:effectLst/>
                <a:uFillTx/>
                <a:latin typeface="Aptos Display"/>
              </a:rPr>
              <a:t>Click to edit Master title style</a:t>
            </a:r>
            <a:endParaRPr lang="en-GB" sz="3200" b="0" u="none" strike="noStrike">
              <a:solidFill>
                <a:schemeClr val="dk1"/>
              </a:solidFill>
              <a:effectLst/>
              <a:uFillTx/>
              <a:latin typeface="Aptos Display"/>
            </a:endParaRPr>
          </a:p>
        </p:txBody>
      </p:sp>
      <p:sp>
        <p:nvSpPr>
          <p:cNvPr id="6" name="PlaceHolder 2"/>
          <p:cNvSpPr>
            <a:spLocks noGrp="1"/>
          </p:cNvSpPr>
          <p:nvPr>
            <p:ph type="body"/>
          </p:nvPr>
        </p:nvSpPr>
        <p:spPr>
          <a:xfrm>
            <a:off x="5183280" y="987480"/>
            <a:ext cx="6171480" cy="4872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GB"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3200" b="0" u="none" strike="noStrike">
                <a:solidFill>
                  <a:schemeClr val="dk1"/>
                </a:solidFill>
                <a:effectLst/>
                <a:uFillTx/>
                <a:latin typeface="Aptos"/>
              </a:rPr>
              <a:t>Click to edit Master text styles</a:t>
            </a:r>
            <a:endParaRPr lang="en-GB"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800" b="0" u="none" strike="noStrike">
                <a:solidFill>
                  <a:schemeClr val="dk1"/>
                </a:solidFill>
                <a:effectLst/>
                <a:uFillTx/>
                <a:latin typeface="Aptos"/>
              </a:rPr>
              <a:t>Second level</a:t>
            </a:r>
            <a:endParaRPr lang="en-GB"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Third level</a:t>
            </a:r>
            <a:endParaRPr lang="en-GB"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Fourth level</a:t>
            </a:r>
            <a:endParaRPr lang="en-GB"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Fifth level</a:t>
            </a:r>
            <a:endParaRPr lang="en-GB" sz="2000" b="0" u="none" strike="noStrike">
              <a:solidFill>
                <a:schemeClr val="dk1"/>
              </a:solidFill>
              <a:effectLst/>
              <a:uFillTx/>
              <a:latin typeface="Aptos"/>
            </a:endParaRPr>
          </a:p>
        </p:txBody>
      </p:sp>
      <p:sp>
        <p:nvSpPr>
          <p:cNvPr id="7"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GB"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GB" sz="1600" b="0" u="none" strike="noStrike">
                <a:solidFill>
                  <a:schemeClr val="dk1"/>
                </a:solidFill>
                <a:effectLst/>
                <a:uFillTx/>
                <a:latin typeface="Aptos"/>
              </a:rPr>
              <a:t>Click to edit Master text styles</a:t>
            </a:r>
            <a:endParaRPr lang="en-GB" sz="1600" b="0" u="none" strike="noStrike">
              <a:solidFill>
                <a:schemeClr val="dk1"/>
              </a:solidFill>
              <a:effectLst/>
              <a:uFillTx/>
              <a:latin typeface="Aptos"/>
            </a:endParaRPr>
          </a:p>
        </p:txBody>
      </p:sp>
      <p:sp>
        <p:nvSpPr>
          <p:cNvPr id="8" name="PlaceHolder 4"/>
          <p:cNvSpPr>
            <a:spLocks noGrp="1"/>
          </p:cNvSpPr>
          <p:nvPr>
            <p:ph type="dt" idx="4"/>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9" name="PlaceHolder 5"/>
          <p:cNvSpPr>
            <a:spLocks noGrp="1"/>
          </p:cNvSpPr>
          <p:nvPr>
            <p:ph type="ftr" idx="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6"/>
          <p:cNvSpPr>
            <a:spLocks noGrp="1"/>
          </p:cNvSpPr>
          <p:nvPr>
            <p:ph type="sldNum" idx="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6DF361D-944F-4272-B659-2927B5997BAE}"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39880" y="457200"/>
            <a:ext cx="3931560" cy="15994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GB" sz="3200" b="0" u="none" strike="noStrike">
                <a:solidFill>
                  <a:schemeClr val="dk1"/>
                </a:solidFill>
                <a:effectLst/>
                <a:uFillTx/>
                <a:latin typeface="Aptos Display"/>
              </a:defRPr>
            </a:lvl1pPr>
          </a:lstStyle>
          <a:p>
            <a:pPr indent="0" algn="l" defTabSz="914400">
              <a:lnSpc>
                <a:spcPct val="90000"/>
              </a:lnSpc>
              <a:buNone/>
              <a:tabLst>
                <a:tab pos="0" algn="l"/>
              </a:tabLst>
            </a:pPr>
            <a:r>
              <a:rPr lang="en-GB" sz="3200" b="0" u="none" strike="noStrike">
                <a:solidFill>
                  <a:schemeClr val="dk1"/>
                </a:solidFill>
                <a:effectLst/>
                <a:uFillTx/>
                <a:latin typeface="Aptos Display"/>
              </a:rPr>
              <a:t>Click to edit Master title style</a:t>
            </a:r>
            <a:endParaRPr lang="en-GB" sz="3200" b="0" u="none" strike="noStrike">
              <a:solidFill>
                <a:schemeClr val="dk1"/>
              </a:solidFill>
              <a:effectLst/>
              <a:uFillTx/>
              <a:latin typeface="Aptos Display"/>
            </a:endParaRPr>
          </a:p>
        </p:txBody>
      </p:sp>
      <p:sp>
        <p:nvSpPr>
          <p:cNvPr id="12" name="PlaceHolder 2"/>
          <p:cNvSpPr>
            <a:spLocks noGrp="1"/>
          </p:cNvSpPr>
          <p:nvPr>
            <p:ph type="body"/>
          </p:nvPr>
        </p:nvSpPr>
        <p:spPr>
          <a:xfrm>
            <a:off x="5183280" y="987480"/>
            <a:ext cx="6171480" cy="487296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tabLst>
                <a:tab pos="0" algn="l"/>
              </a:tabLst>
              <a:defRPr lang="en-US" sz="32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tabLst>
                <a:tab pos="0" algn="l"/>
              </a:tabLst>
              <a:defRPr lang="en-US" sz="32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7pPr>
          </a:lstStyle>
          <a:p>
            <a:pPr marL="432000" indent="-324000" algn="l" defTabSz="914400">
              <a:lnSpc>
                <a:spcPct val="90000"/>
              </a:lnSpc>
              <a:spcBef>
                <a:spcPts val="1001"/>
              </a:spcBef>
              <a:buClr>
                <a:srgbClr val="000000"/>
              </a:buClr>
              <a:buFont typeface="Arial"/>
              <a:buChar char="•"/>
              <a:tabLst>
                <a:tab pos="0" algn="l"/>
              </a:tabLst>
            </a:pPr>
            <a:r>
              <a:rPr lang="en-US" sz="3200" b="0" u="none" strike="noStrike">
                <a:solidFill>
                  <a:schemeClr val="dk1"/>
                </a:solidFill>
                <a:effectLst/>
                <a:uFillTx/>
                <a:latin typeface="Aptos"/>
              </a:rPr>
              <a:t>Click to edit the outline text format</a:t>
            </a:r>
            <a:endParaRPr lang="en-GB" sz="3200" b="0" u="none" strike="noStrike">
              <a:solidFill>
                <a:schemeClr val="dk1"/>
              </a:solidFill>
              <a:effectLst/>
              <a:uFillTx/>
              <a:latin typeface="Aptos"/>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en-US" sz="3200" b="0" u="none" strike="noStrike">
                <a:solidFill>
                  <a:schemeClr val="dk1"/>
                </a:solidFill>
                <a:effectLst/>
                <a:uFillTx/>
                <a:latin typeface="Aptos"/>
              </a:rPr>
              <a:t>Second Outline Level</a:t>
            </a:r>
            <a:endParaRPr lang="en-US" sz="3200" b="0" u="none" strike="noStrike">
              <a:solidFill>
                <a:schemeClr val="dk1"/>
              </a:solidFill>
              <a:effectLst/>
              <a:uFillTx/>
              <a:latin typeface="Aptos"/>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Third Outline Level</a:t>
            </a:r>
            <a:endParaRPr lang="en-US" sz="3200" b="0" u="none" strike="noStrike">
              <a:solidFill>
                <a:schemeClr val="dk1"/>
              </a:solidFill>
              <a:effectLst/>
              <a:uFillTx/>
              <a:latin typeface="Aptos"/>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en-US" sz="3200" b="0" u="none" strike="noStrike">
                <a:solidFill>
                  <a:schemeClr val="dk1"/>
                </a:solidFill>
                <a:effectLst/>
                <a:uFillTx/>
                <a:latin typeface="Aptos"/>
              </a:rPr>
              <a:t>Fourth Outline Level</a:t>
            </a:r>
            <a:endParaRPr lang="en-US" sz="3200" b="0" u="none" strike="noStrike">
              <a:solidFill>
                <a:schemeClr val="dk1"/>
              </a:solidFill>
              <a:effectLst/>
              <a:uFillTx/>
              <a:latin typeface="Aptos"/>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Fifth Outline Level</a:t>
            </a:r>
            <a:endParaRPr lang="en-US" sz="3200" b="0" u="none" strike="noStrike">
              <a:solidFill>
                <a:schemeClr val="dk1"/>
              </a:solidFill>
              <a:effectLst/>
              <a:uFillTx/>
              <a:latin typeface="Aptos"/>
            </a:endParaRPr>
          </a:p>
          <a:p>
            <a:pPr marL="2286000" lvl="5" indent="-216000" algn="l" defTabSz="914400">
              <a:lnSpc>
                <a:spcPct val="9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Sixth Outline Level</a:t>
            </a:r>
            <a:endParaRPr lang="en-US" sz="3200" b="0" u="none" strike="noStrike">
              <a:solidFill>
                <a:schemeClr val="dk1"/>
              </a:solidFill>
              <a:effectLst/>
              <a:uFillTx/>
              <a:latin typeface="Aptos"/>
            </a:endParaRPr>
          </a:p>
          <a:p>
            <a:pPr marL="2743200" lvl="6" indent="-216000" algn="l" defTabSz="914400">
              <a:lnSpc>
                <a:spcPct val="9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Seventh Outline Level</a:t>
            </a:r>
            <a:endParaRPr lang="en-US" sz="3200" b="0" u="none" strike="noStrike">
              <a:solidFill>
                <a:schemeClr val="dk1"/>
              </a:solidFill>
              <a:effectLst/>
              <a:uFillTx/>
              <a:latin typeface="Aptos"/>
            </a:endParaRPr>
          </a:p>
        </p:txBody>
      </p:sp>
      <p:sp>
        <p:nvSpPr>
          <p:cNvPr id="13" name="PlaceHolder 3"/>
          <p:cNvSpPr>
            <a:spLocks noGrp="1"/>
          </p:cNvSpPr>
          <p:nvPr>
            <p:ph type="body"/>
          </p:nvPr>
        </p:nvSpPr>
        <p:spPr>
          <a:xfrm>
            <a:off x="839880" y="2057400"/>
            <a:ext cx="3931560" cy="38109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GB"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GB" sz="1600" b="0" u="none" strike="noStrike">
                <a:solidFill>
                  <a:schemeClr val="dk1"/>
                </a:solidFill>
                <a:effectLst/>
                <a:uFillTx/>
                <a:latin typeface="Aptos"/>
              </a:rPr>
              <a:t>Click to edit Master text styles</a:t>
            </a:r>
            <a:endParaRPr lang="en-GB" sz="1600" b="0" u="none" strike="noStrike">
              <a:solidFill>
                <a:schemeClr val="dk1"/>
              </a:solidFill>
              <a:effectLst/>
              <a:uFillTx/>
              <a:latin typeface="Aptos"/>
            </a:endParaRPr>
          </a:p>
        </p:txBody>
      </p:sp>
      <p:sp>
        <p:nvSpPr>
          <p:cNvPr id="14" name="PlaceHolder 4"/>
          <p:cNvSpPr>
            <a:spLocks noGrp="1"/>
          </p:cNvSpPr>
          <p:nvPr>
            <p:ph type="dt" idx="7"/>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5" name="PlaceHolder 5"/>
          <p:cNvSpPr>
            <a:spLocks noGrp="1"/>
          </p:cNvSpPr>
          <p:nvPr>
            <p:ph type="ftr" idx="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6"/>
          <p:cNvSpPr>
            <a:spLocks noGrp="1"/>
          </p:cNvSpPr>
          <p:nvPr>
            <p:ph type="sldNum" idx="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9F1437FD-8289-4AA4-9DFE-059145E988DE}"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1523880" y="1122480"/>
            <a:ext cx="9143280" cy="238680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GB" sz="6000" b="0" u="none" strike="noStrike">
                <a:solidFill>
                  <a:schemeClr val="dk1"/>
                </a:solidFill>
                <a:effectLst/>
                <a:uFillTx/>
                <a:latin typeface="Aptos Display"/>
              </a:defRPr>
            </a:lvl1pPr>
          </a:lstStyle>
          <a:p>
            <a:pPr indent="0" algn="ctr" defTabSz="914400">
              <a:lnSpc>
                <a:spcPct val="90000"/>
              </a:lnSpc>
              <a:buNone/>
              <a:tabLst>
                <a:tab pos="0" algn="l"/>
              </a:tabLst>
            </a:pPr>
            <a:r>
              <a:rPr lang="en-GB" sz="6000" b="0" u="none" strike="noStrike">
                <a:solidFill>
                  <a:schemeClr val="dk1"/>
                </a:solidFill>
                <a:effectLst/>
                <a:uFillTx/>
                <a:latin typeface="Aptos Display"/>
              </a:rPr>
              <a:t>Click to edit Master title style</a:t>
            </a:r>
            <a:endParaRPr lang="en-GB" sz="6000" b="0" u="none" strike="noStrike">
              <a:solidFill>
                <a:schemeClr val="dk1"/>
              </a:solidFill>
              <a:effectLst/>
              <a:uFillTx/>
              <a:latin typeface="Aptos Display"/>
            </a:endParaRPr>
          </a:p>
        </p:txBody>
      </p:sp>
      <p:sp>
        <p:nvSpPr>
          <p:cNvPr id="18" name="PlaceHolder 2"/>
          <p:cNvSpPr>
            <a:spLocks noGrp="1"/>
          </p:cNvSpPr>
          <p:nvPr>
            <p:ph type="dt" idx="10"/>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9" name="PlaceHolder 3"/>
          <p:cNvSpPr>
            <a:spLocks noGrp="1"/>
          </p:cNvSpPr>
          <p:nvPr>
            <p:ph type="ftr" idx="1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4"/>
          <p:cNvSpPr>
            <a:spLocks noGrp="1"/>
          </p:cNvSpPr>
          <p:nvPr>
            <p:ph type="sldNum" idx="1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30BB3629-5587-4B5E-8A51-A99E5BC4F38F}"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
        <p:nvSpPr>
          <p:cNvPr id="21" name="PlaceHolder 5"/>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23"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24" name="PlaceHolder 3"/>
          <p:cNvSpPr>
            <a:spLocks noGrp="1"/>
          </p:cNvSpPr>
          <p:nvPr>
            <p:ph type="dt" idx="13"/>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357D2AD8-F286-4605-9D85-B56229AAD370}"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724960" y="365040"/>
            <a:ext cx="2628360" cy="5811120"/>
          </a:xfrm>
          <a:prstGeom prst="rect">
            <a:avLst/>
          </a:prstGeom>
          <a:noFill/>
          <a:ln w="0">
            <a:noFill/>
          </a:ln>
        </p:spPr>
        <p:txBody>
          <a:bodyPr lIns="91440" tIns="45720" rIns="91440" bIns="45720" anchor="ctr" vert="eaVert">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28" name="PlaceHolder 2"/>
          <p:cNvSpPr>
            <a:spLocks noGrp="1"/>
          </p:cNvSpPr>
          <p:nvPr>
            <p:ph type="body"/>
          </p:nvPr>
        </p:nvSpPr>
        <p:spPr>
          <a:xfrm>
            <a:off x="838080" y="365040"/>
            <a:ext cx="7733520" cy="581112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29" name="PlaceHolder 3"/>
          <p:cNvSpPr>
            <a:spLocks noGrp="1"/>
          </p:cNvSpPr>
          <p:nvPr>
            <p:ph type="dt" idx="16"/>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0" name="PlaceHolder 4"/>
          <p:cNvSpPr>
            <a:spLocks noGrp="1"/>
          </p:cNvSpPr>
          <p:nvPr>
            <p:ph type="ftr" idx="1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5"/>
          <p:cNvSpPr>
            <a:spLocks noGrp="1"/>
          </p:cNvSpPr>
          <p:nvPr>
            <p:ph type="sldNum" idx="1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5C9422FA-8A0A-4BBE-A139-81A6877F4704}"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33" name="PlaceHolder 2"/>
          <p:cNvSpPr>
            <a:spLocks noGrp="1"/>
          </p:cNvSpPr>
          <p:nvPr>
            <p:ph type="body"/>
          </p:nvPr>
        </p:nvSpPr>
        <p:spPr>
          <a:xfrm>
            <a:off x="838080" y="1825560"/>
            <a:ext cx="1051488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34" name="PlaceHolder 3"/>
          <p:cNvSpPr>
            <a:spLocks noGrp="1"/>
          </p:cNvSpPr>
          <p:nvPr>
            <p:ph type="dt" idx="19"/>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5" name="PlaceHolder 4"/>
          <p:cNvSpPr>
            <a:spLocks noGrp="1"/>
          </p:cNvSpPr>
          <p:nvPr>
            <p:ph type="ftr" idx="2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 name="PlaceHolder 5"/>
          <p:cNvSpPr>
            <a:spLocks noGrp="1"/>
          </p:cNvSpPr>
          <p:nvPr>
            <p:ph type="sldNum" idx="2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0231D70A-27B5-4B96-946E-1CAB933027E8}"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1960" y="1709640"/>
            <a:ext cx="10514880" cy="28519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GB" sz="6000" b="0" u="none" strike="noStrike">
                <a:solidFill>
                  <a:schemeClr val="dk1"/>
                </a:solidFill>
                <a:effectLst/>
                <a:uFillTx/>
                <a:latin typeface="Aptos Display"/>
              </a:defRPr>
            </a:lvl1pPr>
          </a:lstStyle>
          <a:p>
            <a:pPr indent="0" algn="l" defTabSz="914400">
              <a:lnSpc>
                <a:spcPct val="90000"/>
              </a:lnSpc>
              <a:buNone/>
              <a:tabLst>
                <a:tab pos="0" algn="l"/>
              </a:tabLst>
            </a:pPr>
            <a:r>
              <a:rPr lang="en-GB" sz="6000" b="0" u="none" strike="noStrike">
                <a:solidFill>
                  <a:schemeClr val="dk1"/>
                </a:solidFill>
                <a:effectLst/>
                <a:uFillTx/>
                <a:latin typeface="Aptos Display"/>
              </a:rPr>
              <a:t>Click to edit Master title style</a:t>
            </a:r>
            <a:endParaRPr lang="en-GB" sz="6000" b="0" u="none" strike="noStrike">
              <a:solidFill>
                <a:schemeClr val="dk1"/>
              </a:solidFill>
              <a:effectLst/>
              <a:uFillTx/>
              <a:latin typeface="Aptos Display"/>
            </a:endParaRPr>
          </a:p>
        </p:txBody>
      </p:sp>
      <p:sp>
        <p:nvSpPr>
          <p:cNvPr id="38" name="PlaceHolder 2"/>
          <p:cNvSpPr>
            <a:spLocks noGrp="1"/>
          </p:cNvSpPr>
          <p:nvPr>
            <p:ph type="body"/>
          </p:nvPr>
        </p:nvSpPr>
        <p:spPr>
          <a:xfrm>
            <a:off x="831960" y="4589640"/>
            <a:ext cx="10514880" cy="149940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GB"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GB" sz="2400" b="0" u="none" strike="noStrike">
                <a:solidFill>
                  <a:schemeClr val="dk1">
                    <a:tint val="82000"/>
                  </a:schemeClr>
                </a:solidFill>
                <a:effectLst/>
                <a:uFillTx/>
                <a:latin typeface="Aptos"/>
              </a:rPr>
              <a:t>Click to edit Master text styles</a:t>
            </a:r>
            <a:endParaRPr lang="en-GB" sz="2400" b="0" u="none" strike="noStrike">
              <a:solidFill>
                <a:schemeClr val="dk1">
                  <a:tint val="82000"/>
                </a:schemeClr>
              </a:solidFill>
              <a:effectLst/>
              <a:uFillTx/>
              <a:latin typeface="Aptos"/>
            </a:endParaRPr>
          </a:p>
        </p:txBody>
      </p:sp>
      <p:sp>
        <p:nvSpPr>
          <p:cNvPr id="39" name="PlaceHolder 3"/>
          <p:cNvSpPr>
            <a:spLocks noGrp="1"/>
          </p:cNvSpPr>
          <p:nvPr>
            <p:ph type="dt" idx="22"/>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0" name="PlaceHolder 4"/>
          <p:cNvSpPr>
            <a:spLocks noGrp="1"/>
          </p:cNvSpPr>
          <p:nvPr>
            <p:ph type="ftr" idx="2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 name="PlaceHolder 5"/>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5788C1E8-70FF-4CFF-80F8-69BD4A8FA740}"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43" name="PlaceHolder 2"/>
          <p:cNvSpPr>
            <a:spLocks noGrp="1"/>
          </p:cNvSpPr>
          <p:nvPr>
            <p:ph type="body"/>
          </p:nvPr>
        </p:nvSpPr>
        <p:spPr>
          <a:xfrm>
            <a:off x="83808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44" name="PlaceHolder 3"/>
          <p:cNvSpPr>
            <a:spLocks noGrp="1"/>
          </p:cNvSpPr>
          <p:nvPr>
            <p:ph type="body"/>
          </p:nvPr>
        </p:nvSpPr>
        <p:spPr>
          <a:xfrm>
            <a:off x="6172200" y="1825560"/>
            <a:ext cx="5180760" cy="43506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45" name="PlaceHolder 4"/>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6" name="PlaceHolder 5"/>
          <p:cNvSpPr>
            <a:spLocks noGrp="1"/>
          </p:cNvSpPr>
          <p:nvPr>
            <p:ph type="ftr" idx="2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6"/>
          <p:cNvSpPr>
            <a:spLocks noGrp="1"/>
          </p:cNvSpPr>
          <p:nvPr>
            <p:ph type="sldNum" idx="2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45C251F0-FD43-4601-805B-20B65C0823E9}"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49" name="PlaceHolder 2"/>
          <p:cNvSpPr>
            <a:spLocks noGrp="1"/>
          </p:cNvSpPr>
          <p:nvPr>
            <p:ph type="body"/>
          </p:nvPr>
        </p:nvSpPr>
        <p:spPr>
          <a:xfrm>
            <a:off x="839880" y="1681200"/>
            <a:ext cx="515700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GB"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GB" sz="2400" b="1" u="none" strike="noStrike">
                <a:solidFill>
                  <a:schemeClr val="dk1"/>
                </a:solidFill>
                <a:effectLst/>
                <a:uFillTx/>
                <a:latin typeface="Aptos"/>
              </a:rPr>
              <a:t>Click to edit Master text styles</a:t>
            </a:r>
            <a:endParaRPr lang="en-GB" sz="2400" b="0" u="none" strike="noStrike">
              <a:solidFill>
                <a:schemeClr val="dk1"/>
              </a:solidFill>
              <a:effectLst/>
              <a:uFillTx/>
              <a:latin typeface="Aptos"/>
            </a:endParaRPr>
          </a:p>
        </p:txBody>
      </p:sp>
      <p:sp>
        <p:nvSpPr>
          <p:cNvPr id="50" name="PlaceHolder 3"/>
          <p:cNvSpPr>
            <a:spLocks noGrp="1"/>
          </p:cNvSpPr>
          <p:nvPr>
            <p:ph type="body"/>
          </p:nvPr>
        </p:nvSpPr>
        <p:spPr>
          <a:xfrm>
            <a:off x="839880" y="2505240"/>
            <a:ext cx="515700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51" name="PlaceHolder 4"/>
          <p:cNvSpPr>
            <a:spLocks noGrp="1"/>
          </p:cNvSpPr>
          <p:nvPr>
            <p:ph type="body"/>
          </p:nvPr>
        </p:nvSpPr>
        <p:spPr>
          <a:xfrm>
            <a:off x="6172200" y="1681200"/>
            <a:ext cx="5182560" cy="82332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GB"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GB" sz="2400" b="1" u="none" strike="noStrike">
                <a:solidFill>
                  <a:schemeClr val="dk1"/>
                </a:solidFill>
                <a:effectLst/>
                <a:uFillTx/>
                <a:latin typeface="Aptos"/>
              </a:rPr>
              <a:t>Click to edit Master text styles</a:t>
            </a:r>
            <a:endParaRPr lang="en-GB" sz="2400" b="0" u="none" strike="noStrike">
              <a:solidFill>
                <a:schemeClr val="dk1"/>
              </a:solidFill>
              <a:effectLst/>
              <a:uFillTx/>
              <a:latin typeface="Aptos"/>
            </a:endParaRPr>
          </a:p>
        </p:txBody>
      </p:sp>
      <p:sp>
        <p:nvSpPr>
          <p:cNvPr id="52" name="PlaceHolder 5"/>
          <p:cNvSpPr>
            <a:spLocks noGrp="1"/>
          </p:cNvSpPr>
          <p:nvPr>
            <p:ph type="body"/>
          </p:nvPr>
        </p:nvSpPr>
        <p:spPr>
          <a:xfrm>
            <a:off x="6172200" y="2505240"/>
            <a:ext cx="5182560" cy="3683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GB"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GB"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GB"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GB"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GB"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GB" sz="2800" b="0" u="none" strike="noStrike">
                <a:solidFill>
                  <a:schemeClr val="dk1"/>
                </a:solidFill>
                <a:effectLst/>
                <a:uFillTx/>
                <a:latin typeface="Aptos"/>
              </a:rPr>
              <a:t>Click to edit Master text styles</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GB" sz="2400" b="0" u="none" strike="noStrike">
                <a:solidFill>
                  <a:schemeClr val="dk1"/>
                </a:solidFill>
                <a:effectLst/>
                <a:uFillTx/>
                <a:latin typeface="Aptos"/>
              </a:rPr>
              <a:t>Second level</a:t>
            </a:r>
            <a:endParaRPr lang="en-GB"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GB" sz="2000" b="0" u="none" strike="noStrike">
                <a:solidFill>
                  <a:schemeClr val="dk1"/>
                </a:solidFill>
                <a:effectLst/>
                <a:uFillTx/>
                <a:latin typeface="Aptos"/>
              </a:rPr>
              <a:t>Third level</a:t>
            </a:r>
            <a:endParaRPr lang="en-GB"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GB" sz="1800" b="0" u="none" strike="noStrike">
                <a:solidFill>
                  <a:schemeClr val="dk1"/>
                </a:solidFill>
                <a:effectLst/>
                <a:uFillTx/>
                <a:latin typeface="Aptos"/>
              </a:rPr>
              <a:t>Fourth level</a:t>
            </a:r>
            <a:endParaRPr lang="en-GB"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GB" sz="1800" b="0" u="none" strike="noStrike">
                <a:solidFill>
                  <a:schemeClr val="dk1"/>
                </a:solidFill>
                <a:effectLst/>
                <a:uFillTx/>
                <a:latin typeface="Aptos"/>
              </a:rPr>
              <a:t>Fifth level</a:t>
            </a:r>
            <a:endParaRPr lang="en-GB" sz="1800" b="0" u="none" strike="noStrike">
              <a:solidFill>
                <a:schemeClr val="dk1"/>
              </a:solidFill>
              <a:effectLst/>
              <a:uFillTx/>
              <a:latin typeface="Aptos"/>
            </a:endParaRPr>
          </a:p>
        </p:txBody>
      </p:sp>
      <p:sp>
        <p:nvSpPr>
          <p:cNvPr id="53" name="PlaceHolder 6"/>
          <p:cNvSpPr>
            <a:spLocks noGrp="1"/>
          </p:cNvSpPr>
          <p:nvPr>
            <p:ph type="dt" idx="28"/>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4" name="PlaceHolder 7"/>
          <p:cNvSpPr>
            <a:spLocks noGrp="1"/>
          </p:cNvSpPr>
          <p:nvPr>
            <p:ph type="ftr" idx="2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5" name="PlaceHolder 8"/>
          <p:cNvSpPr>
            <a:spLocks noGrp="1"/>
          </p:cNvSpPr>
          <p:nvPr>
            <p:ph type="sldNum" idx="3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15F0F72-01B9-44A5-ABAE-DD302FB8ACAA}"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0" u="none" strike="noStrike">
                <a:solidFill>
                  <a:schemeClr val="dk1"/>
                </a:solidFill>
                <a:effectLst/>
                <a:uFillTx/>
                <a:latin typeface="Aptos Display"/>
              </a:defRPr>
            </a:lvl1pPr>
          </a:lstStyle>
          <a:p>
            <a:pPr indent="0" algn="l" defTabSz="914400">
              <a:lnSpc>
                <a:spcPct val="90000"/>
              </a:lnSpc>
              <a:buNone/>
              <a:tabLst>
                <a:tab pos="0" algn="l"/>
              </a:tabLst>
            </a:pPr>
            <a:r>
              <a:rPr lang="en-GB" sz="4400" b="0" u="none" strike="noStrike">
                <a:solidFill>
                  <a:schemeClr val="dk1"/>
                </a:solidFill>
                <a:effectLst/>
                <a:uFillTx/>
                <a:latin typeface="Aptos Display"/>
              </a:rPr>
              <a:t>Click to edit Master title style</a:t>
            </a:r>
            <a:endParaRPr lang="en-GB" sz="4400" b="0" u="none" strike="noStrike">
              <a:solidFill>
                <a:schemeClr val="dk1"/>
              </a:solidFill>
              <a:effectLst/>
              <a:uFillTx/>
              <a:latin typeface="Aptos Display"/>
            </a:endParaRPr>
          </a:p>
        </p:txBody>
      </p:sp>
      <p:sp>
        <p:nvSpPr>
          <p:cNvPr id="57" name="PlaceHolder 2"/>
          <p:cNvSpPr>
            <a:spLocks noGrp="1"/>
          </p:cNvSpPr>
          <p:nvPr>
            <p:ph type="dt" idx="31"/>
          </p:nvPr>
        </p:nvSpPr>
        <p:spPr>
          <a:xfrm>
            <a:off x="838080" y="6356520"/>
            <a:ext cx="2742480" cy="3643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8" name="PlaceHolder 3"/>
          <p:cNvSpPr>
            <a:spLocks noGrp="1"/>
          </p:cNvSpPr>
          <p:nvPr>
            <p:ph type="ftr" idx="3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4"/>
          <p:cNvSpPr>
            <a:spLocks noGrp="1"/>
          </p:cNvSpPr>
          <p:nvPr>
            <p:ph type="sldNum" idx="3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CC5BF52-8D75-4273-904C-8522D0261ADD}"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jpeg"/><Relationship Id="rId3"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7.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Relationships xmlns="http://schemas.openxmlformats.org/package/2006/relationships"><Relationship Id="rId1" Type="http://schemas.openxmlformats.org/officeDocument/2006/relationships/image" Target="../media/image12.gif"/><Relationship Id="rId2"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7.xml"/>
</Relationships>
</file>

<file path=ppt/slides/_rels/slide20.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15.jpeg"/><Relationship Id="rId3" Type="http://schemas.openxmlformats.org/officeDocument/2006/relationships/slideLayout" Target="../slideLayouts/slideLayout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7.xml"/>
</Relationships>
</file>

<file path=ppt/slides/_rels/slide24.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7.xml"/>
</Relationships>
</file>

<file path=ppt/slides/_rels/slide25.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19.jpeg"/><Relationship Id="rId3" Type="http://schemas.openxmlformats.org/officeDocument/2006/relationships/slideLayout" Target="../slideLayouts/slideLayout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8.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image" Target="../media/image21.jpeg"/><Relationship Id="rId3" Type="http://schemas.openxmlformats.org/officeDocument/2006/relationships/slideLayout" Target="../slideLayouts/slideLayout7.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0.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png"/><Relationship Id="rId3" Type="http://schemas.openxmlformats.org/officeDocument/2006/relationships/slideLayout" Target="../slideLayouts/slideLayout7.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675360" y="2387880"/>
            <a:ext cx="10840320" cy="2081520"/>
          </a:xfrm>
          <a:prstGeom prst="rect">
            <a:avLst/>
          </a:prstGeom>
          <a:noFill/>
          <a:ln w="0">
            <a:noFill/>
          </a:ln>
        </p:spPr>
        <p:txBody>
          <a:bodyPr lIns="91440" tIns="45720" rIns="91440" bIns="45720" anchor="b">
            <a:noAutofit/>
          </a:bodyPr>
          <a:p>
            <a:pPr indent="0" algn="ctr" defTabSz="914400">
              <a:lnSpc>
                <a:spcPct val="90000"/>
              </a:lnSpc>
              <a:buNone/>
              <a:tabLst>
                <a:tab pos="0" algn="l"/>
              </a:tabLst>
            </a:pPr>
            <a:r>
              <a:rPr lang="en-US" sz="4800" b="0" u="none" strike="noStrike">
                <a:solidFill>
                  <a:schemeClr val="dk1"/>
                </a:solidFill>
                <a:effectLst/>
                <a:uFillTx/>
                <a:latin typeface="Aptos Display"/>
              </a:rPr>
              <a:t>Lecture : 2</a:t>
            </a:r>
            <a:br>
              <a:rPr sz="4800"/>
            </a:br>
            <a:br>
              <a:rPr sz="4800"/>
            </a:br>
            <a:r>
              <a:rPr lang="en-IN" sz="4800" b="0" u="none" strike="noStrike">
                <a:solidFill>
                  <a:srgbClr val="000000"/>
                </a:solidFill>
                <a:effectLst/>
                <a:uFillTx/>
                <a:latin typeface="Arial"/>
              </a:rPr>
              <a:t>Observational Tools &amp; Techniques</a:t>
            </a:r>
            <a:endParaRPr lang="en-GB" sz="4800" b="0" u="none" strike="noStrike">
              <a:solidFill>
                <a:schemeClr val="dk1"/>
              </a:solidFill>
              <a:effectLst/>
              <a:uFillTx/>
              <a:latin typeface="Aptos Display"/>
            </a:endParaRPr>
          </a:p>
        </p:txBody>
      </p:sp>
      <p:pic>
        <p:nvPicPr>
          <p:cNvPr id="61" name=""/>
          <p:cNvPicPr/>
          <p:nvPr/>
        </p:nvPicPr>
        <p:blipFill>
          <a:blip r:embed="rId1"/>
          <a:stretch/>
        </p:blipFill>
        <p:spPr>
          <a:xfrm>
            <a:off x="7772400" y="228600"/>
            <a:ext cx="4114800" cy="20574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15336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Pointing the Tube Upward</a:t>
            </a:r>
            <a:endParaRPr lang="en-GB" sz="4400" b="0" u="none" strike="noStrike">
              <a:solidFill>
                <a:schemeClr val="dk1"/>
              </a:solidFill>
              <a:effectLst/>
              <a:uFillTx/>
              <a:latin typeface="Aptos Display"/>
            </a:endParaRPr>
          </a:p>
        </p:txBody>
      </p:sp>
      <p:sp>
        <p:nvSpPr>
          <p:cNvPr id="63" name="PlaceHolder 2"/>
          <p:cNvSpPr>
            <a:spLocks noGrp="1"/>
          </p:cNvSpPr>
          <p:nvPr>
            <p:ph/>
          </p:nvPr>
        </p:nvSpPr>
        <p:spPr>
          <a:xfrm>
            <a:off x="640800" y="1690560"/>
            <a:ext cx="4938480" cy="4350600"/>
          </a:xfrm>
          <a:prstGeom prst="rect">
            <a:avLst/>
          </a:prstGeom>
          <a:noFill/>
          <a:ln w="0">
            <a:noFill/>
          </a:ln>
        </p:spPr>
        <p:txBody>
          <a:bodyPr lIns="91440" tIns="45720" rIns="91440" bIns="45720" anchor="t">
            <a:normAutofit fontScale="775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In 1608, a Dutch eyeglass maker named Hans Lipperhey invented the "spyglass" to help sailors spot distant ships.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In 1609, Galileo Galilei built his own version and did something revolutionary: he pointed it at the night sky.</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This was a </a:t>
            </a:r>
            <a:r>
              <a:rPr lang="en-IN" sz="2800" b="1" u="none" strike="noStrike">
                <a:solidFill>
                  <a:schemeClr val="dk1"/>
                </a:solidFill>
                <a:effectLst/>
                <a:uFillTx/>
                <a:latin typeface="Aptos"/>
              </a:rPr>
              <a:t>Refracting Telescope</a:t>
            </a:r>
            <a:r>
              <a:rPr lang="en-IN" sz="2800" b="0" u="none" strike="noStrike">
                <a:solidFill>
                  <a:schemeClr val="dk1"/>
                </a:solidFill>
                <a:effectLst/>
                <a:uFillTx/>
                <a:latin typeface="Aptos"/>
              </a:rPr>
              <a:t>. It used a curved glass lens at the front to bend (refract) light to a focal point at the back.</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pic>
        <p:nvPicPr>
          <p:cNvPr id="64" name="Picture 2" descr="The Inventor Galileo - HLH Prototypes ..."/>
          <p:cNvPicPr/>
          <p:nvPr/>
        </p:nvPicPr>
        <p:blipFill>
          <a:blip r:embed="rId1"/>
          <a:stretch/>
        </p:blipFill>
        <p:spPr>
          <a:xfrm>
            <a:off x="5882400" y="1969560"/>
            <a:ext cx="5826600" cy="37933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400" b="0" u="none" strike="noStrike">
                <a:solidFill>
                  <a:schemeClr val="dk1"/>
                </a:solidFill>
                <a:effectLst/>
                <a:uFillTx/>
                <a:latin typeface="Aptos Display"/>
              </a:rPr>
              <a:t>What did he observe??</a:t>
            </a:r>
            <a:endParaRPr lang="en-GB" sz="4400" b="0" u="none" strike="noStrike">
              <a:solidFill>
                <a:schemeClr val="dk1"/>
              </a:solidFill>
              <a:effectLst/>
              <a:uFillTx/>
              <a:latin typeface="Aptos Display"/>
            </a:endParaRPr>
          </a:p>
        </p:txBody>
      </p:sp>
      <p:pic>
        <p:nvPicPr>
          <p:cNvPr id="66" name="Picture 4" descr="astronomer Galileo Galilei (1564-1642 ..."/>
          <p:cNvPicPr/>
          <p:nvPr/>
        </p:nvPicPr>
        <p:blipFill>
          <a:blip r:embed="rId1"/>
          <a:stretch/>
        </p:blipFill>
        <p:spPr>
          <a:xfrm>
            <a:off x="838080" y="2373120"/>
            <a:ext cx="2805840" cy="2894760"/>
          </a:xfrm>
          <a:prstGeom prst="rect">
            <a:avLst/>
          </a:prstGeom>
          <a:noFill/>
          <a:ln w="0">
            <a:noFill/>
          </a:ln>
        </p:spPr>
      </p:pic>
      <p:pic>
        <p:nvPicPr>
          <p:cNvPr id="67" name="Picture 2" descr="Galileo's observations of Jupiter's moons"/>
          <p:cNvPicPr/>
          <p:nvPr/>
        </p:nvPicPr>
        <p:blipFill>
          <a:blip r:embed="rId2"/>
          <a:stretch/>
        </p:blipFill>
        <p:spPr>
          <a:xfrm>
            <a:off x="4908600" y="2106360"/>
            <a:ext cx="2374200" cy="3428280"/>
          </a:xfrm>
          <a:prstGeom prst="rect">
            <a:avLst/>
          </a:prstGeom>
          <a:noFill/>
          <a:ln w="0">
            <a:noFill/>
          </a:ln>
        </p:spPr>
      </p:pic>
      <p:pic>
        <p:nvPicPr>
          <p:cNvPr id="68" name="Picture 8" descr="Galileo observations"/>
          <p:cNvPicPr/>
          <p:nvPr/>
        </p:nvPicPr>
        <p:blipFill>
          <a:blip r:embed="rId3"/>
          <a:stretch/>
        </p:blipFill>
        <p:spPr>
          <a:xfrm>
            <a:off x="8136720" y="2392200"/>
            <a:ext cx="3809160" cy="28569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Aptos Display"/>
              </a:rPr>
              <a:t>Galilean Telescope </a:t>
            </a:r>
            <a:endParaRPr lang="en-GB" sz="4400" b="0" u="none" strike="noStrike">
              <a:solidFill>
                <a:schemeClr val="dk1"/>
              </a:solidFill>
              <a:effectLst/>
              <a:uFillTx/>
              <a:latin typeface="Aptos Display"/>
            </a:endParaRPr>
          </a:p>
        </p:txBody>
      </p:sp>
      <p:sp>
        <p:nvSpPr>
          <p:cNvPr id="70" name="PlaceHolder 2"/>
          <p:cNvSpPr>
            <a:spLocks noGrp="1"/>
          </p:cNvSpPr>
          <p:nvPr>
            <p:ph/>
          </p:nvPr>
        </p:nvSpPr>
        <p:spPr>
          <a:xfrm>
            <a:off x="838080" y="1690560"/>
            <a:ext cx="4079520" cy="4801320"/>
          </a:xfrm>
          <a:prstGeom prst="rect">
            <a:avLst/>
          </a:prstGeom>
          <a:noFill/>
          <a:ln w="0">
            <a:noFill/>
          </a:ln>
        </p:spPr>
        <p:txBody>
          <a:bodyPr lIns="91440" tIns="45720" rIns="91440" bIns="45720" anchor="t">
            <a:normAutofit fontScale="700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The Galilean telescope is a classic refracting telescope. It uses glass to bend (refract) incoming light rays.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The Two Lenses:</a:t>
            </a:r>
            <a:r>
              <a:rPr lang="en-IN" sz="2800" b="0" u="none" strike="noStrike">
                <a:solidFill>
                  <a:schemeClr val="dk1"/>
                </a:solidFill>
                <a:effectLst/>
                <a:uFillTx/>
                <a:latin typeface="Aptos"/>
              </a:rPr>
              <a:t> It relies on a very specific combination of just two pieces of glass: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ptos Display"/>
              <a:buAutoNum type="arabicPeriod"/>
              <a:tabLst>
                <a:tab pos="0" algn="l"/>
              </a:tabLst>
            </a:pPr>
            <a:r>
              <a:rPr lang="en-IN" sz="2300" b="1" u="none" strike="noStrike">
                <a:solidFill>
                  <a:schemeClr val="dk1"/>
                </a:solidFill>
                <a:effectLst/>
                <a:uFillTx/>
                <a:latin typeface="Aptos"/>
              </a:rPr>
              <a:t>The Objective Lens (Convex):</a:t>
            </a:r>
            <a:r>
              <a:rPr lang="en-IN" sz="2300" b="0" u="none" strike="noStrike">
                <a:solidFill>
                  <a:schemeClr val="dk1"/>
                </a:solidFill>
                <a:effectLst/>
                <a:uFillTx/>
                <a:latin typeface="Aptos"/>
              </a:rPr>
              <a:t> A large lens at the front that bulges outward. It gathers the incoming parallel light rays and bends them inward toward a focal point.</a:t>
            </a:r>
            <a:endParaRPr lang="en-GB" sz="23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ptos Display"/>
              <a:buAutoNum type="arabicPeriod"/>
              <a:tabLst>
                <a:tab pos="0" algn="l"/>
              </a:tabLst>
            </a:pPr>
            <a:r>
              <a:rPr lang="en-IN" sz="2300" b="1" u="none" strike="noStrike">
                <a:solidFill>
                  <a:schemeClr val="dk1"/>
                </a:solidFill>
                <a:effectLst/>
                <a:uFillTx/>
                <a:latin typeface="Aptos"/>
              </a:rPr>
              <a:t>The Eyepiece Lens (Concave):</a:t>
            </a:r>
            <a:r>
              <a:rPr lang="en-IN" sz="2300" b="0" u="none" strike="noStrike">
                <a:solidFill>
                  <a:schemeClr val="dk1"/>
                </a:solidFill>
                <a:effectLst/>
                <a:uFillTx/>
                <a:latin typeface="Aptos"/>
              </a:rPr>
              <a:t> A smaller lens at the back that curves inward. Placed </a:t>
            </a:r>
            <a:r>
              <a:rPr lang="en-IN" sz="2300" b="0" i="1" u="none" strike="noStrike">
                <a:solidFill>
                  <a:schemeClr val="dk1"/>
                </a:solidFill>
                <a:effectLst/>
                <a:uFillTx/>
                <a:latin typeface="Aptos"/>
              </a:rPr>
              <a:t>before</a:t>
            </a:r>
            <a:r>
              <a:rPr lang="en-IN" sz="2300" b="0" u="none" strike="noStrike">
                <a:solidFill>
                  <a:schemeClr val="dk1"/>
                </a:solidFill>
                <a:effectLst/>
                <a:uFillTx/>
                <a:latin typeface="Aptos"/>
              </a:rPr>
              <a:t> the focal point of the objective lens, it intercepts the converging rays and straightens them out again for the human eye</a:t>
            </a:r>
            <a:endParaRPr lang="en-GB" sz="23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pic>
        <p:nvPicPr>
          <p:cNvPr id="71" name="Picture 4" descr="Refractive Telescopes"/>
          <p:cNvPicPr/>
          <p:nvPr/>
        </p:nvPicPr>
        <p:blipFill>
          <a:blip r:embed="rId1"/>
          <a:stretch/>
        </p:blipFill>
        <p:spPr>
          <a:xfrm>
            <a:off x="5805000" y="2379600"/>
            <a:ext cx="6220080" cy="27072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838080" y="1436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Limits of Refraction</a:t>
            </a:r>
            <a:endParaRPr lang="en-GB" sz="4400" b="0" u="none" strike="noStrike">
              <a:solidFill>
                <a:schemeClr val="dk1"/>
              </a:solidFill>
              <a:effectLst/>
              <a:uFillTx/>
              <a:latin typeface="Aptos Display"/>
            </a:endParaRPr>
          </a:p>
        </p:txBody>
      </p:sp>
      <p:sp>
        <p:nvSpPr>
          <p:cNvPr id="73" name="PlaceHolder 2"/>
          <p:cNvSpPr>
            <a:spLocks noGrp="1"/>
          </p:cNvSpPr>
          <p:nvPr>
            <p:ph/>
          </p:nvPr>
        </p:nvSpPr>
        <p:spPr>
          <a:xfrm>
            <a:off x="838080" y="1825560"/>
            <a:ext cx="4439520" cy="4350600"/>
          </a:xfrm>
          <a:prstGeom prst="rect">
            <a:avLst/>
          </a:prstGeom>
          <a:noFill/>
          <a:ln w="0">
            <a:noFill/>
          </a:ln>
        </p:spPr>
        <p:txBody>
          <a:bodyPr lIns="91440" tIns="45720" rIns="91440" bIns="45720" anchor="t">
            <a:normAutofit fontScale="47500" lnSpcReduction="19999"/>
          </a:bodyPr>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Aptos"/>
              </a:rPr>
              <a:t>Chromatic Aberration (The Rainbow Blur):</a:t>
            </a:r>
            <a:r>
              <a:rPr lang="en-IN" sz="2800" b="0" u="none" strike="noStrike">
                <a:solidFill>
                  <a:schemeClr val="dk1"/>
                </a:solidFill>
                <a:effectLst/>
                <a:uFillTx/>
                <a:latin typeface="Aptos"/>
              </a:rPr>
              <a:t> Glass acts like a prism. It bends shorter wavelengths (blue) sharper than longer wavelengths (red). It is physically impossible to focus all colours at once, leaving every star surrounded by a blurry, glowing rainbow halo.</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Spherical Aberration (The Blurry Edges):</a:t>
            </a:r>
            <a:r>
              <a:rPr lang="en-IN" sz="2800" b="0" u="none" strike="noStrike">
                <a:solidFill>
                  <a:schemeClr val="dk1"/>
                </a:solidFill>
                <a:effectLst/>
                <a:uFillTx/>
                <a:latin typeface="Aptos"/>
              </a:rPr>
              <a:t> Early lenses were ground into perfect spheres. However, the outer edges of a spherical lens bend light differently than the centre, meaning the edges of the image were always out of focus.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The Absurd Solution:</a:t>
            </a:r>
            <a:r>
              <a:rPr lang="en-IN" sz="2800" b="0" u="none" strike="noStrike">
                <a:solidFill>
                  <a:schemeClr val="dk1"/>
                </a:solidFill>
                <a:effectLst/>
                <a:uFillTx/>
                <a:latin typeface="Aptos"/>
              </a:rPr>
              <a:t> To minimize these distortions, 17th-century astronomers tried making the lens curves incredibly gentle. This required massive focal lengths.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"Aerial" Telescopes:</a:t>
            </a:r>
            <a:r>
              <a:rPr lang="en-IN" sz="2800" b="0" u="none" strike="noStrike">
                <a:solidFill>
                  <a:schemeClr val="dk1"/>
                </a:solidFill>
                <a:effectLst/>
                <a:uFillTx/>
                <a:latin typeface="Aptos"/>
              </a:rPr>
              <a:t> Astronomers like Hevelius built telescopes over 150 feet long! They couldn't build tubes that big, so they suspended the lens from a giant wooden mast and tried to align it with a hand-held eyepiece using ropes and pulleys in the dark.</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pic>
        <p:nvPicPr>
          <p:cNvPr id="74" name="Picture 2" descr="Spherical aberration - Wikipedia"/>
          <p:cNvPicPr/>
          <p:nvPr/>
        </p:nvPicPr>
        <p:blipFill>
          <a:blip r:embed="rId1"/>
          <a:stretch/>
        </p:blipFill>
        <p:spPr>
          <a:xfrm>
            <a:off x="6665760" y="4157280"/>
            <a:ext cx="3987000" cy="2391840"/>
          </a:xfrm>
          <a:prstGeom prst="rect">
            <a:avLst/>
          </a:prstGeom>
          <a:noFill/>
          <a:ln w="0">
            <a:noFill/>
          </a:ln>
        </p:spPr>
      </p:pic>
      <p:pic>
        <p:nvPicPr>
          <p:cNvPr id="75" name="Picture 6" descr="What is chromatic aberration - Focus Review"/>
          <p:cNvPicPr/>
          <p:nvPr/>
        </p:nvPicPr>
        <p:blipFill>
          <a:blip r:embed="rId2"/>
          <a:stretch/>
        </p:blipFill>
        <p:spPr>
          <a:xfrm>
            <a:off x="6913440" y="1677240"/>
            <a:ext cx="3491640" cy="23234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Bouncing Light Instead of Bending It</a:t>
            </a:r>
            <a:endParaRPr lang="en-GB" sz="4400" b="0" u="none" strike="noStrike">
              <a:solidFill>
                <a:schemeClr val="dk1"/>
              </a:solidFill>
              <a:effectLst/>
              <a:uFillTx/>
              <a:latin typeface="Aptos Display"/>
            </a:endParaRPr>
          </a:p>
        </p:txBody>
      </p:sp>
      <p:sp>
        <p:nvSpPr>
          <p:cNvPr id="77"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fontScale="625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Isaac Newton realized that as long as light passes </a:t>
            </a:r>
            <a:r>
              <a:rPr lang="en-IN" sz="2800" b="0" i="1" u="none" strike="noStrike">
                <a:solidFill>
                  <a:schemeClr val="dk1"/>
                </a:solidFill>
                <a:effectLst/>
                <a:uFillTx/>
                <a:latin typeface="Aptos"/>
              </a:rPr>
              <a:t>through</a:t>
            </a:r>
            <a:r>
              <a:rPr lang="en-IN" sz="2800" b="0" u="none" strike="noStrike">
                <a:solidFill>
                  <a:schemeClr val="dk1"/>
                </a:solidFill>
                <a:effectLst/>
                <a:uFillTx/>
                <a:latin typeface="Aptos"/>
              </a:rPr>
              <a:t> a medium like glass, it will split into a rainbow. To fix the telescope, he had to stop bending light and start bouncing it.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Unlike refraction, reflection does not depend on wavelength. Red light and blue light bounce off a mirrored surface at the exact same angle. Chromatic aberration is instantly eliminated!</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The Newtonian Design:</a:t>
            </a:r>
            <a:r>
              <a:rPr lang="en-IN" sz="2800" b="0" u="none" strike="noStrike">
                <a:solidFill>
                  <a:schemeClr val="dk1"/>
                </a:solidFill>
                <a:effectLst/>
                <a:uFillTx/>
                <a:latin typeface="Aptos"/>
              </a:rPr>
              <a:t> 1. </a:t>
            </a:r>
            <a:r>
              <a:rPr lang="en-IN" sz="2800" b="1" u="none" strike="noStrike">
                <a:solidFill>
                  <a:schemeClr val="dk1"/>
                </a:solidFill>
                <a:effectLst/>
                <a:uFillTx/>
                <a:latin typeface="Aptos"/>
              </a:rPr>
              <a:t>Primary Mirror:</a:t>
            </a:r>
            <a:r>
              <a:rPr lang="en-IN" sz="2800" b="0" u="none" strike="noStrike">
                <a:solidFill>
                  <a:schemeClr val="dk1"/>
                </a:solidFill>
                <a:effectLst/>
                <a:uFillTx/>
                <a:latin typeface="Aptos"/>
              </a:rPr>
              <a:t> A curved (concave) piece of polished metal at the back of the tube gathers the incoming light and reflects it forward to a focus. 2. </a:t>
            </a:r>
            <a:r>
              <a:rPr lang="en-IN" sz="2800" b="1" u="none" strike="noStrike">
                <a:solidFill>
                  <a:schemeClr val="dk1"/>
                </a:solidFill>
                <a:effectLst/>
                <a:uFillTx/>
                <a:latin typeface="Aptos"/>
              </a:rPr>
              <a:t>Secondary Mirror:</a:t>
            </a:r>
            <a:r>
              <a:rPr lang="en-IN" sz="2800" b="0" u="none" strike="noStrike">
                <a:solidFill>
                  <a:schemeClr val="dk1"/>
                </a:solidFill>
                <a:effectLst/>
                <a:uFillTx/>
                <a:latin typeface="Aptos"/>
              </a:rPr>
              <a:t> A small, flat mirror near the front is angled at 45° to bounce that converging light out the side of the tube to an eyepiece.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Newton built a working reflecting telescope that was only 6 inches long, but it magnified up to 40x matching the power of the giant, unwieldy 150-foot aerial refractors!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400" b="0" u="none" strike="noStrike">
                <a:solidFill>
                  <a:schemeClr val="dk1"/>
                </a:solidFill>
                <a:effectLst/>
                <a:uFillTx/>
                <a:latin typeface="Aptos Display"/>
              </a:rPr>
              <a:t>Newtonian Telescope </a:t>
            </a:r>
            <a:endParaRPr lang="en-GB" sz="4400" b="0" u="none" strike="noStrike">
              <a:solidFill>
                <a:schemeClr val="dk1"/>
              </a:solidFill>
              <a:effectLst/>
              <a:uFillTx/>
              <a:latin typeface="Aptos Display"/>
            </a:endParaRPr>
          </a:p>
        </p:txBody>
      </p:sp>
      <p:sp>
        <p:nvSpPr>
          <p:cNvPr id="79" name="PlaceHolder 2"/>
          <p:cNvSpPr>
            <a:spLocks noGrp="1"/>
          </p:cNvSpPr>
          <p:nvPr>
            <p:ph/>
          </p:nvPr>
        </p:nvSpPr>
        <p:spPr>
          <a:xfrm>
            <a:off x="672120" y="1690560"/>
            <a:ext cx="4491720" cy="5288400"/>
          </a:xfrm>
          <a:prstGeom prst="rect">
            <a:avLst/>
          </a:prstGeom>
          <a:noFill/>
          <a:ln w="0">
            <a:noFill/>
          </a:ln>
        </p:spPr>
        <p:txBody>
          <a:bodyPr lIns="91440" tIns="45720" rIns="91440" bIns="45720" anchor="t">
            <a:normAutofit fontScale="625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Google Sans Text"/>
              </a:rPr>
              <a:t>Light enters the open top of the telescope tube and travels unimpeded all the way down to the bottom.</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Google Sans Text"/>
              </a:rPr>
              <a:t>At the very base sits a large, curved (concave) mirror. It catches the incoming parallel photons and reflects them back up the tube, focusing them into a narrowing cone.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Google Sans Text"/>
              </a:rPr>
              <a:t>Before the light cone can reach its focal point, a tiny, flat mirror suspended in the middle of the tube at a perfect 45-degree angle intercepts the beam.</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Google Sans Text"/>
              </a:rPr>
              <a:t>The secondary mirror bounces the focused light out a hole in the side of the tube, where the observer looks through the eyepiece.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pic>
        <p:nvPicPr>
          <p:cNvPr id="80" name="Picture 2" descr="HOW DOES A NEWTONIAN REFLECTOR TELESCOPE WORK?"/>
          <p:cNvPicPr/>
          <p:nvPr/>
        </p:nvPicPr>
        <p:blipFill>
          <a:blip r:embed="rId1"/>
          <a:stretch/>
        </p:blipFill>
        <p:spPr>
          <a:xfrm>
            <a:off x="5783760" y="2393280"/>
            <a:ext cx="5569200" cy="300168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Comet Hunter's Nuisance (1771)</a:t>
            </a:r>
            <a:endParaRPr lang="en-GB" sz="4400" b="0" u="none" strike="noStrike">
              <a:solidFill>
                <a:schemeClr val="dk1"/>
              </a:solidFill>
              <a:effectLst/>
              <a:uFillTx/>
              <a:latin typeface="Aptos Display"/>
            </a:endParaRPr>
          </a:p>
        </p:txBody>
      </p:sp>
      <p:sp>
        <p:nvSpPr>
          <p:cNvPr id="82"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lnSpcReduction="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In the 18th century, the biggest prize in astronomy was discovering a comet. French astronomer Charles Messier was completely obsessed with finding them.</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Using his early telescopes, he kept spotting faint, fuzzy smudges in the deep sky. He would watch them for nights, hoping they would move like a comet. They never did.</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Frustrated that these stationary fuzzy objects were wasting his time, he decided to map them so he and other comet hunters could ignore them.</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He compiled a list of 110 of these "nuisances." Today, we know them as the </a:t>
            </a:r>
            <a:r>
              <a:rPr lang="en-IN" sz="2800" b="1" u="none" strike="noStrike">
                <a:solidFill>
                  <a:schemeClr val="dk1"/>
                </a:solidFill>
                <a:effectLst/>
                <a:uFillTx/>
                <a:latin typeface="Aptos"/>
              </a:rPr>
              <a:t>Messier Catalogue</a:t>
            </a:r>
            <a:r>
              <a:rPr lang="en-IN" sz="2800" b="0" u="none" strike="noStrike">
                <a:solidFill>
                  <a:schemeClr val="dk1"/>
                </a:solidFill>
                <a:effectLst/>
                <a:uFillTx/>
                <a:latin typeface="Aptos"/>
              </a:rPr>
              <a:t> (M1 through M110).</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1641600"/>
            <a:ext cx="10514880" cy="3573720"/>
          </a:xfrm>
          <a:prstGeom prst="rect">
            <a:avLst/>
          </a:prstGeom>
          <a:noFill/>
          <a:ln w="0">
            <a:noFill/>
          </a:ln>
        </p:spPr>
        <p:txBody>
          <a:bodyPr lIns="91440" tIns="45720" rIns="91440" bIns="45720" anchor="ctr">
            <a:normAutofit/>
          </a:bodyPr>
          <a:p>
            <a:pPr indent="0" algn="ctr" defTabSz="914400">
              <a:lnSpc>
                <a:spcPct val="90000"/>
              </a:lnSpc>
              <a:buNone/>
              <a:tabLst>
                <a:tab pos="0" algn="l"/>
              </a:tabLst>
            </a:pPr>
            <a:r>
              <a:rPr lang="en-US" sz="4400" b="0" u="none" strike="noStrike">
                <a:solidFill>
                  <a:schemeClr val="dk1"/>
                </a:solidFill>
                <a:effectLst/>
                <a:uFillTx/>
                <a:latin typeface="Aptos Display"/>
              </a:rPr>
              <a:t>So, we cracked it right?</a:t>
            </a:r>
            <a:br>
              <a:rPr sz="4400"/>
            </a:br>
            <a:r>
              <a:rPr lang="en-US" sz="4400" b="0" u="none" strike="noStrike">
                <a:solidFill>
                  <a:schemeClr val="dk1"/>
                </a:solidFill>
                <a:effectLst/>
                <a:uFillTx/>
                <a:latin typeface="Aptos Display"/>
              </a:rPr>
              <a:t> </a:t>
            </a:r>
            <a:br>
              <a:rPr sz="4400"/>
            </a:br>
            <a:r>
              <a:rPr lang="en-US" sz="4400" b="0" u="none" strike="noStrike">
                <a:solidFill>
                  <a:schemeClr val="dk1"/>
                </a:solidFill>
                <a:effectLst/>
                <a:uFillTx/>
                <a:latin typeface="Aptos Display"/>
              </a:rPr>
              <a:t>The secret sauce, the recipe to observe the universe, higher the magnification better will be the view!! </a:t>
            </a:r>
            <a:endParaRPr lang="en-GB" sz="4400" b="0" u="none" strike="noStrike">
              <a:solidFill>
                <a:schemeClr val="dk1"/>
              </a:solidFill>
              <a:effectLst/>
              <a:uFillTx/>
              <a:latin typeface="Aptos Display"/>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Building the Ultimate "Light Bucket"</a:t>
            </a:r>
            <a:endParaRPr lang="en-GB" sz="4400" b="0" u="none" strike="noStrike">
              <a:solidFill>
                <a:schemeClr val="dk1"/>
              </a:solidFill>
              <a:effectLst/>
              <a:uFillTx/>
              <a:latin typeface="Aptos Display"/>
            </a:endParaRPr>
          </a:p>
        </p:txBody>
      </p:sp>
      <p:sp>
        <p:nvSpPr>
          <p:cNvPr id="85"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fontScale="700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As astronomers adopted Newton's design, they realized the goal wasn't magnification, but </a:t>
            </a:r>
            <a:r>
              <a:rPr lang="en-IN" sz="2800" b="1" u="none" strike="noStrike">
                <a:solidFill>
                  <a:schemeClr val="dk1"/>
                </a:solidFill>
                <a:effectLst/>
                <a:uFillTx/>
                <a:latin typeface="Aptos"/>
              </a:rPr>
              <a:t>Light Gathering Power</a:t>
            </a:r>
            <a:r>
              <a:rPr lang="en-IN" sz="2800" b="0" u="none" strike="noStrike">
                <a:solidFill>
                  <a:schemeClr val="dk1"/>
                </a:solidFill>
                <a:effectLst/>
                <a:uFillTx/>
                <a:latin typeface="Aptos"/>
              </a:rPr>
              <a:t>. To see fainter objects, you simply need a wider bucket to catch more photons.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William Herschel (1781):</a:t>
            </a:r>
            <a:r>
              <a:rPr lang="en-IN" sz="2800" b="0" u="none" strike="noStrike">
                <a:solidFill>
                  <a:schemeClr val="dk1"/>
                </a:solidFill>
                <a:effectLst/>
                <a:uFillTx/>
                <a:latin typeface="Aptos"/>
              </a:rPr>
              <a:t> Built massive reflectors in his backyard. By gathering more light than anyone before him, he spotted a faint object moving against the stars: </a:t>
            </a:r>
            <a:r>
              <a:rPr lang="en-IN" sz="2800" b="1" u="none" strike="noStrike">
                <a:solidFill>
                  <a:schemeClr val="dk1"/>
                </a:solidFill>
                <a:effectLst/>
                <a:uFillTx/>
                <a:latin typeface="Aptos"/>
              </a:rPr>
              <a:t>Uranus </a:t>
            </a:r>
            <a:r>
              <a:rPr lang="en-IN" sz="2800" b="0" u="none" strike="noStrike">
                <a:solidFill>
                  <a:schemeClr val="dk1"/>
                </a:solidFill>
                <a:effectLst/>
                <a:uFillTx/>
                <a:latin typeface="Aptos"/>
              </a:rPr>
              <a:t>the first new planet discovered since antiquity.</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Lord Rosse built a monstrous 72-inch (1.8 meter) wide metal mirror in Ireland, suspended between two massive stone walls. It remained the largest telescope in the world for 70 years.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Rosse was the first human to resolve the shapes of faint "nebulae" and see giant spiral structures. He was looking at other galaxies, though he didn't know it yet!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53136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400" b="0" u="none" strike="noStrike">
                <a:solidFill>
                  <a:schemeClr val="dk1"/>
                </a:solidFill>
                <a:effectLst/>
                <a:uFillTx/>
                <a:latin typeface="Aptos Display"/>
              </a:rPr>
              <a:t>We are near, but not quiet there yet!!</a:t>
            </a:r>
            <a:endParaRPr lang="en-GB" sz="4400" b="0" u="none" strike="noStrike">
              <a:solidFill>
                <a:schemeClr val="dk1"/>
              </a:solidFill>
              <a:effectLst/>
              <a:uFillTx/>
              <a:latin typeface="Aptos Display"/>
            </a:endParaRPr>
          </a:p>
        </p:txBody>
      </p:sp>
      <p:sp>
        <p:nvSpPr>
          <p:cNvPr id="87" name="PlaceHolder 2"/>
          <p:cNvSpPr>
            <a:spLocks noGrp="1"/>
          </p:cNvSpPr>
          <p:nvPr>
            <p:ph/>
          </p:nvPr>
        </p:nvSpPr>
        <p:spPr>
          <a:xfrm>
            <a:off x="838080" y="2685960"/>
            <a:ext cx="10514880" cy="1485000"/>
          </a:xfrm>
          <a:prstGeom prst="rect">
            <a:avLst/>
          </a:prstGeom>
          <a:noFill/>
          <a:ln w="0">
            <a:noFill/>
          </a:ln>
        </p:spPr>
        <p:txBody>
          <a:bodyPr lIns="91440" tIns="45720" rIns="91440" bIns="45720" anchor="t">
            <a:normAutofit/>
          </a:bodyPr>
          <a:p>
            <a:pPr indent="0" algn="ctr" defTabSz="914400">
              <a:lnSpc>
                <a:spcPct val="90000"/>
              </a:lnSpc>
              <a:spcBef>
                <a:spcPts val="1001"/>
              </a:spcBef>
              <a:buNone/>
              <a:tabLst>
                <a:tab pos="0" algn="l"/>
              </a:tabLst>
            </a:pPr>
            <a:r>
              <a:rPr lang="en-IN" sz="3200" b="0" u="none" strike="noStrike">
                <a:solidFill>
                  <a:schemeClr val="dk1"/>
                </a:solidFill>
                <a:effectLst/>
                <a:uFillTx/>
                <a:latin typeface="Aptos"/>
              </a:rPr>
              <a:t>The human eye is basically a live-stream. It refreshes a fraction of a second, meaning it cannot "build up" light over time to see incredibly faint objects.</a:t>
            </a:r>
            <a:endParaRPr lang="en-GB" sz="32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236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Replacing the Human Eye with Camera </a:t>
            </a:r>
            <a:endParaRPr lang="en-GB" sz="4400" b="0" u="none" strike="noStrike">
              <a:solidFill>
                <a:schemeClr val="dk1"/>
              </a:solidFill>
              <a:effectLst/>
              <a:uFillTx/>
              <a:latin typeface="Aptos Display"/>
            </a:endParaRPr>
          </a:p>
        </p:txBody>
      </p:sp>
      <p:sp>
        <p:nvSpPr>
          <p:cNvPr id="89"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fontScale="700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In the late 19th century, astronomers started taking the eyepieces out of their giant telescopes and replacing them with glass plates coated in light-sensitive chemicals.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Unlike an eye, a camera can stay open. By forcing the telescope to perfectly track a target for hours, the chemicals slowly accumulated individual photons over time.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This was a massive paradigm shift. Photographic plates revealed faint spiral galaxies, dust lanes, and vast nebulae that were physically impossible for the human eye to ever see, no matter how big the telescope's mirror was.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Astronomy stopped being about a guy sketching what he </a:t>
            </a:r>
            <a:r>
              <a:rPr lang="en-IN" sz="2800" b="0" i="1" u="none" strike="noStrike">
                <a:solidFill>
                  <a:schemeClr val="dk1"/>
                </a:solidFill>
                <a:effectLst/>
                <a:uFillTx/>
                <a:latin typeface="Aptos"/>
              </a:rPr>
              <a:t>thought</a:t>
            </a:r>
            <a:r>
              <a:rPr lang="en-IN" sz="2800" b="0" u="none" strike="noStrike">
                <a:solidFill>
                  <a:schemeClr val="dk1"/>
                </a:solidFill>
                <a:effectLst/>
                <a:uFillTx/>
                <a:latin typeface="Aptos"/>
              </a:rPr>
              <a:t> he saw in the freezing dark. It became a rigorous science based on permanent, objective evidence.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p:nvPr>
        </p:nvSpPr>
        <p:spPr>
          <a:xfrm>
            <a:off x="838080" y="511920"/>
            <a:ext cx="10514880" cy="5833440"/>
          </a:xfrm>
          <a:prstGeom prst="rect">
            <a:avLst/>
          </a:prstGeom>
          <a:noFill/>
          <a:ln w="0">
            <a:noFill/>
          </a:ln>
        </p:spPr>
        <p:txBody>
          <a:bodyPr lIns="91440" tIns="45720" rIns="91440" bIns="45720" anchor="t">
            <a:normAutofit fontScale="85000" lnSpcReduction="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Photographic film was a massive leap forward, but it was incredibly inefficient. It had a </a:t>
            </a:r>
            <a:r>
              <a:rPr lang="en-IN" sz="2800" b="1" u="none" strike="noStrike">
                <a:solidFill>
                  <a:schemeClr val="dk1"/>
                </a:solidFill>
                <a:effectLst/>
                <a:uFillTx/>
                <a:latin typeface="Aptos"/>
              </a:rPr>
              <a:t>Quantum Efficiency (QE) of about 2%</a:t>
            </a:r>
            <a:r>
              <a:rPr lang="en-IN" sz="2800" b="0" u="none" strike="noStrike">
                <a:solidFill>
                  <a:schemeClr val="dk1"/>
                </a:solidFill>
                <a:effectLst/>
                <a:uFillTx/>
                <a:latin typeface="Aptos"/>
              </a:rPr>
              <a:t>. That means for every 100 photons that hit the glass plate, only 2 actually triggered a chemical reaction.</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Invented in 1969, CCDs replaced chemical plates with a grid of silicon pixels. When a photon hits a pixel, it knocks an electron loose (the photoelectric effect!), trapping it in a "bucket.”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Modern astronomical CCDs are cooled to -100°C to eliminate heat noise, and they boast a </a:t>
            </a:r>
            <a:r>
              <a:rPr lang="en-IN" sz="2800" b="1" u="none" strike="noStrike">
                <a:solidFill>
                  <a:schemeClr val="dk1"/>
                </a:solidFill>
                <a:effectLst/>
                <a:uFillTx/>
                <a:latin typeface="Aptos"/>
              </a:rPr>
              <a:t>Quantum Efficiency of over 90%</a:t>
            </a:r>
            <a:r>
              <a:rPr lang="en-IN" sz="2800" b="0" u="none" strike="noStrike">
                <a:solidFill>
                  <a:schemeClr val="dk1"/>
                </a:solidFill>
                <a:effectLst/>
                <a:uFillTx/>
                <a:latin typeface="Aptos"/>
              </a:rPr>
              <a:t>. They catch almost every single photon that strikes them.</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Unlike film, which is subjective and messy, a CCD is perfectly linear. If a star is twice as bright, the pixel traps exactly twice as many electrons. This allows for incredibly precise </a:t>
            </a:r>
            <a:r>
              <a:rPr lang="en-IN" sz="2800" b="1" u="none" strike="noStrike">
                <a:solidFill>
                  <a:schemeClr val="dk1"/>
                </a:solidFill>
                <a:effectLst/>
                <a:uFillTx/>
                <a:latin typeface="Aptos"/>
              </a:rPr>
              <a:t>Photometry</a:t>
            </a:r>
            <a:r>
              <a:rPr lang="en-IN" sz="2800" b="0" u="none" strike="noStrike">
                <a:solidFill>
                  <a:schemeClr val="dk1"/>
                </a:solidFill>
                <a:effectLst/>
                <a:uFillTx/>
                <a:latin typeface="Aptos"/>
              </a:rPr>
              <a:t> (counting light).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Illusion of Colour</a:t>
            </a:r>
            <a:endParaRPr lang="en-GB" sz="4400" b="0" u="none" strike="noStrike">
              <a:solidFill>
                <a:schemeClr val="dk1"/>
              </a:solidFill>
              <a:effectLst/>
              <a:uFillTx/>
              <a:latin typeface="Aptos Display"/>
            </a:endParaRPr>
          </a:p>
        </p:txBody>
      </p:sp>
      <p:sp>
        <p:nvSpPr>
          <p:cNvPr id="92" name="PlaceHolder 2"/>
          <p:cNvSpPr>
            <a:spLocks noGrp="1"/>
          </p:cNvSpPr>
          <p:nvPr>
            <p:ph/>
          </p:nvPr>
        </p:nvSpPr>
        <p:spPr>
          <a:xfrm>
            <a:off x="838080" y="1825560"/>
            <a:ext cx="6870960" cy="4350600"/>
          </a:xfrm>
          <a:prstGeom prst="rect">
            <a:avLst/>
          </a:prstGeom>
          <a:noFill/>
          <a:ln w="0">
            <a:noFill/>
          </a:ln>
        </p:spPr>
        <p:txBody>
          <a:bodyPr lIns="91440" tIns="45720" rIns="91440" bIns="45720" anchor="t">
            <a:normAutofit fontScale="700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Space telescopes like Hubble and JWST do not have color cameras. A CCD sensor only counts </a:t>
            </a:r>
            <a:r>
              <a:rPr lang="en-IN" sz="2800" b="0" i="1" u="none" strike="noStrike">
                <a:solidFill>
                  <a:schemeClr val="dk1"/>
                </a:solidFill>
                <a:effectLst/>
                <a:uFillTx/>
                <a:latin typeface="Aptos"/>
              </a:rPr>
              <a:t>how many</a:t>
            </a:r>
            <a:r>
              <a:rPr lang="en-IN" sz="2800" b="0" u="none" strike="noStrike">
                <a:solidFill>
                  <a:schemeClr val="dk1"/>
                </a:solidFill>
                <a:effectLst/>
                <a:uFillTx/>
                <a:latin typeface="Aptos"/>
              </a:rPr>
              <a:t> photons hit a pixel; it doesn't know what colour they are. All raw astronomical data is strictly black-and-white.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To determine color, we place physical glass filters (Red, Green, Blue, or specific chemical bands like Hydrogen-alpha) in front of the sensor one at a time and take separate exposures.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The industry standard. It isn't a picture file; it is a massive mathematical matrix of numbers (pixel values) combined with a detailed text header containing the telescope's exact coordinates, temperature, and exposure time.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pic>
        <p:nvPicPr>
          <p:cNvPr id="93" name="Picture 8" descr="Video: How scientists colorize pictures ..."/>
          <p:cNvPicPr/>
          <p:nvPr/>
        </p:nvPicPr>
        <p:blipFill>
          <a:blip r:embed="rId1"/>
          <a:stretch/>
        </p:blipFill>
        <p:spPr>
          <a:xfrm>
            <a:off x="8310960" y="2277360"/>
            <a:ext cx="2856960" cy="28569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4" name=""/>
          <p:cNvPicPr/>
          <p:nvPr/>
        </p:nvPicPr>
        <p:blipFill>
          <a:blip r:embed="rId1"/>
          <a:stretch/>
        </p:blipFill>
        <p:spPr>
          <a:xfrm>
            <a:off x="686520" y="0"/>
            <a:ext cx="1028592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400" b="0" u="none" strike="noStrike">
                <a:solidFill>
                  <a:schemeClr val="dk1"/>
                </a:solidFill>
                <a:effectLst/>
                <a:uFillTx/>
                <a:latin typeface="Aptos Display"/>
              </a:rPr>
              <a:t>Photometry </a:t>
            </a:r>
            <a:endParaRPr lang="en-GB" sz="4400" b="0" u="none" strike="noStrike">
              <a:solidFill>
                <a:schemeClr val="dk1"/>
              </a:solidFill>
              <a:effectLst/>
              <a:uFillTx/>
              <a:latin typeface="Aptos Display"/>
            </a:endParaRPr>
          </a:p>
        </p:txBody>
      </p:sp>
      <p:sp>
        <p:nvSpPr>
          <p:cNvPr id="96"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fontScale="625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Photometry is simply counting the exact number of photons hitting our CCD sensor from a specific target over a period of time.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We plot this data on a graph: </a:t>
            </a:r>
            <a:r>
              <a:rPr lang="en-IN" sz="2800" b="1" u="none" strike="noStrike">
                <a:solidFill>
                  <a:schemeClr val="dk1"/>
                </a:solidFill>
                <a:effectLst/>
                <a:uFillTx/>
                <a:latin typeface="Aptos"/>
              </a:rPr>
              <a:t>Time</a:t>
            </a:r>
            <a:r>
              <a:rPr lang="en-IN" sz="2800" b="0" u="none" strike="noStrike">
                <a:solidFill>
                  <a:schemeClr val="dk1"/>
                </a:solidFill>
                <a:effectLst/>
                <a:uFillTx/>
                <a:latin typeface="Aptos"/>
              </a:rPr>
              <a:t> on the x-axis and </a:t>
            </a:r>
            <a:r>
              <a:rPr lang="en-IN" sz="2800" b="1" u="none" strike="noStrike">
                <a:solidFill>
                  <a:schemeClr val="dk1"/>
                </a:solidFill>
                <a:effectLst/>
                <a:uFillTx/>
                <a:latin typeface="Aptos"/>
              </a:rPr>
              <a:t>Brightness</a:t>
            </a:r>
            <a:r>
              <a:rPr lang="en-IN" sz="2800" b="0" u="none" strike="noStrike">
                <a:solidFill>
                  <a:schemeClr val="dk1"/>
                </a:solidFill>
                <a:effectLst/>
                <a:uFillTx/>
                <a:latin typeface="Aptos"/>
              </a:rPr>
              <a:t> (photon count) on the y-axis.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A star's brightness isn't always constant. By watching how the light changes, we can discover invisible phenomena:</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When a planet orbits in front of its host star, it blocks a tiny fraction of the light. We detect that temporary "dip" in the light curve.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We can track exactly how a star violently explodes and fades away by measuring its brightness curve over weeks.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Two stars orbiting each other, periodically blocking each other's light.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7" name=""/>
          <p:cNvPicPr/>
          <p:nvPr/>
        </p:nvPicPr>
        <p:blipFill>
          <a:blip r:embed="rId1"/>
          <a:stretch/>
        </p:blipFill>
        <p:spPr>
          <a:xfrm>
            <a:off x="1143000" y="914400"/>
            <a:ext cx="10344240" cy="506556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Spectroscopy</a:t>
            </a:r>
            <a:endParaRPr lang="en-GB" sz="4400" b="0" u="none" strike="noStrike">
              <a:solidFill>
                <a:schemeClr val="dk1"/>
              </a:solidFill>
              <a:effectLst/>
              <a:uFillTx/>
              <a:latin typeface="Aptos Display"/>
            </a:endParaRPr>
          </a:p>
        </p:txBody>
      </p:sp>
      <p:sp>
        <p:nvSpPr>
          <p:cNvPr id="99" name="PlaceHolder 2"/>
          <p:cNvSpPr>
            <a:spLocks noGrp="1"/>
          </p:cNvSpPr>
          <p:nvPr>
            <p:ph/>
          </p:nvPr>
        </p:nvSpPr>
        <p:spPr>
          <a:xfrm>
            <a:off x="838080" y="1825560"/>
            <a:ext cx="11048760" cy="5032080"/>
          </a:xfrm>
          <a:prstGeom prst="rect">
            <a:avLst/>
          </a:prstGeom>
          <a:noFill/>
          <a:ln w="0">
            <a:noFill/>
          </a:ln>
        </p:spPr>
        <p:txBody>
          <a:bodyPr lIns="91440" tIns="45720" rIns="91440" bIns="45720" anchor="t">
            <a:normAutofit fontScale="85000" lnSpcReduction="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Instead of just counting photons, we pass the starlight through a diffraction grating (like a high-tech prism) to split it into its individual wavelengths (colours).</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Every chemical element absorbs and emits light at very specific, unique wavelengths.</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When we look at a star's spectrum, it looks like a continuous rainbow with very specific dark lines missing. These dark lines act like a barcode.</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We can read the barcode to know exactly what elements a star is made of (Hydrogen, Helium, Iron, etc.) without ever touching it.</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The overall peak colour of the spectrum tells us the surface temperature.</a:t>
            </a: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If the entire barcode is shifted toward the red end of the spectrum, it means the object is moving away from us!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
          <p:cNvPicPr/>
          <p:nvPr/>
        </p:nvPicPr>
        <p:blipFill>
          <a:blip r:embed="rId1"/>
          <a:stretch/>
        </p:blipFill>
        <p:spPr>
          <a:xfrm>
            <a:off x="1371600" y="179280"/>
            <a:ext cx="10058040" cy="667836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18216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Modern Observatory</a:t>
            </a:r>
            <a:endParaRPr lang="en-GB" sz="4400" b="0" u="none" strike="noStrike">
              <a:solidFill>
                <a:schemeClr val="dk1"/>
              </a:solidFill>
              <a:effectLst/>
              <a:uFillTx/>
              <a:latin typeface="Aptos Display"/>
            </a:endParaRPr>
          </a:p>
        </p:txBody>
      </p:sp>
      <p:sp>
        <p:nvSpPr>
          <p:cNvPr id="102" name="PlaceHolder 2"/>
          <p:cNvSpPr>
            <a:spLocks noGrp="1"/>
          </p:cNvSpPr>
          <p:nvPr>
            <p:ph/>
          </p:nvPr>
        </p:nvSpPr>
        <p:spPr>
          <a:xfrm>
            <a:off x="0" y="870120"/>
            <a:ext cx="5686560" cy="5987520"/>
          </a:xfrm>
          <a:prstGeom prst="rect">
            <a:avLst/>
          </a:prstGeom>
          <a:noFill/>
          <a:ln w="0">
            <a:noFill/>
          </a:ln>
        </p:spPr>
        <p:txBody>
          <a:bodyPr lIns="91440" tIns="45720" rIns="91440" bIns="45720" anchor="t">
            <a:normAutofit fontScale="700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 Whether it's the </a:t>
            </a:r>
            <a:r>
              <a:rPr lang="en-IN" sz="2800" b="1" u="none" strike="noStrike">
                <a:solidFill>
                  <a:schemeClr val="dk1"/>
                </a:solidFill>
                <a:effectLst/>
                <a:uFillTx/>
                <a:latin typeface="Aptos"/>
              </a:rPr>
              <a:t>James Webb Space Telescope (JWST)</a:t>
            </a:r>
            <a:r>
              <a:rPr lang="en-IN" sz="2800" b="0" u="none" strike="noStrike">
                <a:solidFill>
                  <a:schemeClr val="dk1"/>
                </a:solidFill>
                <a:effectLst/>
                <a:uFillTx/>
                <a:latin typeface="Aptos"/>
              </a:rPr>
              <a:t> in deep space or the </a:t>
            </a:r>
            <a:r>
              <a:rPr lang="en-IN" sz="2800" b="1" u="none" strike="noStrike">
                <a:solidFill>
                  <a:schemeClr val="dk1"/>
                </a:solidFill>
                <a:effectLst/>
                <a:uFillTx/>
                <a:latin typeface="Aptos"/>
              </a:rPr>
              <a:t>Thirty Meter Telescope (TMT)</a:t>
            </a:r>
            <a:r>
              <a:rPr lang="en-IN" sz="2800" b="0" u="none" strike="noStrike">
                <a:solidFill>
                  <a:schemeClr val="dk1"/>
                </a:solidFill>
                <a:effectLst/>
                <a:uFillTx/>
                <a:latin typeface="Aptos"/>
              </a:rPr>
              <a:t> on Earth, these are essentially just massive, hyper-engineered versions of the "Light Buckets" we discussed.</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Instead of a human looking through an eyepiece, these machines use super-cooled digital sensors (CCDs) that are nearly 100% efficient at catching photons.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The observatory doesn't send back photos; it beams down raw data arrays—those </a:t>
            </a:r>
            <a:r>
              <a:rPr lang="en-IN" sz="2800" b="1" u="none" strike="noStrike">
                <a:solidFill>
                  <a:schemeClr val="dk1"/>
                </a:solidFill>
                <a:effectLst/>
                <a:uFillTx/>
                <a:latin typeface="Aptos"/>
              </a:rPr>
              <a:t>FITS files</a:t>
            </a:r>
            <a:r>
              <a:rPr lang="en-IN" sz="2800" b="0" u="none" strike="noStrike">
                <a:solidFill>
                  <a:schemeClr val="dk1"/>
                </a:solidFill>
                <a:effectLst/>
                <a:uFillTx/>
                <a:latin typeface="Aptos"/>
              </a:rPr>
              <a:t> we talked about filled with numbers that represent photon counts at every pixel.</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The real magic happens in instruments like </a:t>
            </a:r>
            <a:r>
              <a:rPr lang="en-IN" sz="2800" b="1" u="none" strike="noStrike">
                <a:solidFill>
                  <a:schemeClr val="dk1"/>
                </a:solidFill>
                <a:effectLst/>
                <a:uFillTx/>
                <a:latin typeface="Aptos"/>
              </a:rPr>
              <a:t>Spectrographs</a:t>
            </a:r>
            <a:r>
              <a:rPr lang="en-IN" sz="2800" b="0" u="none" strike="noStrike">
                <a:solidFill>
                  <a:schemeClr val="dk1"/>
                </a:solidFill>
                <a:effectLst/>
                <a:uFillTx/>
                <a:latin typeface="Aptos"/>
              </a:rPr>
              <a:t>. When the JWST "detects" water on a planet 100 light-years away, it’s using the exact same spectroscopy logic we just coded to find the quantum barcodes in that starlight.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pic>
        <p:nvPicPr>
          <p:cNvPr id="103" name="Picture 6" descr="Keck Observatory | Mauna Kea, Hawaii ..."/>
          <p:cNvPicPr/>
          <p:nvPr/>
        </p:nvPicPr>
        <p:blipFill>
          <a:blip r:embed="rId1"/>
          <a:stretch/>
        </p:blipFill>
        <p:spPr>
          <a:xfrm>
            <a:off x="7065360" y="1584360"/>
            <a:ext cx="3606120" cy="2259720"/>
          </a:xfrm>
          <a:prstGeom prst="rect">
            <a:avLst/>
          </a:prstGeom>
          <a:noFill/>
          <a:ln w="0">
            <a:noFill/>
          </a:ln>
        </p:spPr>
      </p:pic>
      <p:pic>
        <p:nvPicPr>
          <p:cNvPr id="104" name="Picture 10" descr="Indian Astronomical Observatory - Wikipedia"/>
          <p:cNvPicPr/>
          <p:nvPr/>
        </p:nvPicPr>
        <p:blipFill>
          <a:blip r:embed="rId2"/>
          <a:stretch/>
        </p:blipFill>
        <p:spPr>
          <a:xfrm>
            <a:off x="7224120" y="4143240"/>
            <a:ext cx="3288600" cy="246312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2021040" y="2766240"/>
            <a:ext cx="8149320" cy="132480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0" u="none" strike="noStrike">
                <a:solidFill>
                  <a:schemeClr val="dk1"/>
                </a:solidFill>
                <a:effectLst/>
                <a:uFillTx/>
                <a:latin typeface="Aptos Display"/>
              </a:rPr>
              <a:t>Do we only “Receive” Visible Light? </a:t>
            </a:r>
            <a:endParaRPr lang="en-GB" sz="4400" b="0" u="none" strike="noStrike">
              <a:solidFill>
                <a:schemeClr val="dk1"/>
              </a:solidFill>
              <a:effectLst/>
              <a:uFillTx/>
              <a:latin typeface="Aptos Display"/>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We Are Practically Blind</a:t>
            </a:r>
            <a:endParaRPr lang="en-GB" sz="4400" b="0" u="none" strike="noStrike">
              <a:solidFill>
                <a:schemeClr val="dk1"/>
              </a:solidFill>
              <a:effectLst/>
              <a:uFillTx/>
              <a:latin typeface="Aptos Display"/>
            </a:endParaRPr>
          </a:p>
        </p:txBody>
      </p:sp>
      <p:sp>
        <p:nvSpPr>
          <p:cNvPr id="107"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fontScale="85000" lnSpcReduction="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Visible light (the colours our eyes can actually see) is just a minuscule fraction of the full Electromagnetic (EM) Spectrum.</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We evolved to see visible light </a:t>
            </a:r>
            <a:r>
              <a:rPr lang="en-IN" sz="2800" b="0" i="1" u="none" strike="noStrike">
                <a:solidFill>
                  <a:schemeClr val="dk1"/>
                </a:solidFill>
                <a:effectLst/>
                <a:uFillTx/>
                <a:latin typeface="Aptos"/>
              </a:rPr>
              <a:t>because</a:t>
            </a:r>
            <a:r>
              <a:rPr lang="en-IN" sz="2800" b="0" u="none" strike="noStrike">
                <a:solidFill>
                  <a:schemeClr val="dk1"/>
                </a:solidFill>
                <a:effectLst/>
                <a:uFillTx/>
                <a:latin typeface="Aptos"/>
              </a:rPr>
              <a:t> our atmosphere lets it through. The atmosphere also lets in Radio waves. However, it completely blocks almost all Ultraviolet, X-ray, Gamma-ray, and most Infrared light.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Different physics produce different light.</a:t>
            </a:r>
            <a:endParaRPr lang="en-GB"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IN" sz="2400" b="0" u="none" strike="noStrike">
                <a:solidFill>
                  <a:schemeClr val="dk1"/>
                </a:solidFill>
                <a:effectLst/>
                <a:uFillTx/>
                <a:latin typeface="Aptos"/>
              </a:rPr>
              <a:t>Cold, dusty nebulae glow in </a:t>
            </a:r>
            <a:r>
              <a:rPr lang="en-IN" sz="2400" b="1" u="none" strike="noStrike">
                <a:solidFill>
                  <a:schemeClr val="dk1"/>
                </a:solidFill>
                <a:effectLst/>
                <a:uFillTx/>
                <a:latin typeface="Aptos"/>
              </a:rPr>
              <a:t>Infrared</a:t>
            </a:r>
            <a:r>
              <a:rPr lang="en-IN" sz="2400" b="0" u="none" strike="noStrike">
                <a:solidFill>
                  <a:schemeClr val="dk1"/>
                </a:solidFill>
                <a:effectLst/>
                <a:uFillTx/>
                <a:latin typeface="Aptos"/>
              </a:rPr>
              <a:t>.</a:t>
            </a:r>
            <a:endParaRPr lang="en-GB"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IN" sz="2400" b="0" u="none" strike="noStrike">
                <a:solidFill>
                  <a:schemeClr val="dk1"/>
                </a:solidFill>
                <a:effectLst/>
                <a:uFillTx/>
                <a:latin typeface="Aptos"/>
              </a:rPr>
              <a:t>Supermassive black holes actively feeding on stars scream in </a:t>
            </a:r>
            <a:r>
              <a:rPr lang="en-IN" sz="2400" b="1" u="none" strike="noStrike">
                <a:solidFill>
                  <a:schemeClr val="dk1"/>
                </a:solidFill>
                <a:effectLst/>
                <a:uFillTx/>
                <a:latin typeface="Aptos"/>
              </a:rPr>
              <a:t>X-rays</a:t>
            </a:r>
            <a:r>
              <a:rPr lang="en-IN" sz="2400" b="0" u="none" strike="noStrike">
                <a:solidFill>
                  <a:schemeClr val="dk1"/>
                </a:solidFill>
                <a:effectLst/>
                <a:uFillTx/>
                <a:latin typeface="Aptos"/>
              </a:rPr>
              <a:t>.</a:t>
            </a:r>
            <a:endParaRPr lang="en-GB"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IN" sz="2400" b="0" u="none" strike="noStrike">
                <a:solidFill>
                  <a:schemeClr val="dk1"/>
                </a:solidFill>
                <a:effectLst/>
                <a:uFillTx/>
                <a:latin typeface="Aptos"/>
              </a:rPr>
              <a:t>The leftover heat of the Big Bang itself is only visible in </a:t>
            </a:r>
            <a:r>
              <a:rPr lang="en-IN" sz="2400" b="1" u="none" strike="noStrike">
                <a:solidFill>
                  <a:schemeClr val="dk1"/>
                </a:solidFill>
                <a:effectLst/>
                <a:uFillTx/>
                <a:latin typeface="Aptos"/>
              </a:rPr>
              <a:t>Microwaves</a:t>
            </a:r>
            <a:endParaRPr lang="en-GB"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
          <p:cNvPicPr/>
          <p:nvPr/>
        </p:nvPicPr>
        <p:blipFill>
          <a:blip r:embed="rId1"/>
          <a:stretch/>
        </p:blipFill>
        <p:spPr>
          <a:xfrm>
            <a:off x="11160" y="685800"/>
            <a:ext cx="12104280" cy="573012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12312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400" b="0" u="none" strike="noStrike">
                <a:solidFill>
                  <a:schemeClr val="dk1"/>
                </a:solidFill>
                <a:effectLst/>
                <a:uFillTx/>
                <a:latin typeface="Aptos Display"/>
              </a:rPr>
              <a:t>Radio Astronomy</a:t>
            </a:r>
            <a:endParaRPr lang="en-GB" sz="4400" b="0" u="none" strike="noStrike">
              <a:solidFill>
                <a:schemeClr val="dk1"/>
              </a:solidFill>
              <a:effectLst/>
              <a:uFillTx/>
              <a:latin typeface="Aptos Display"/>
            </a:endParaRPr>
          </a:p>
        </p:txBody>
      </p:sp>
      <p:sp>
        <p:nvSpPr>
          <p:cNvPr id="110" name="PlaceHolder 2"/>
          <p:cNvSpPr>
            <a:spLocks noGrp="1"/>
          </p:cNvSpPr>
          <p:nvPr>
            <p:ph/>
          </p:nvPr>
        </p:nvSpPr>
        <p:spPr>
          <a:xfrm>
            <a:off x="100440" y="1202400"/>
            <a:ext cx="6424200" cy="4959000"/>
          </a:xfrm>
          <a:prstGeom prst="rect">
            <a:avLst/>
          </a:prstGeom>
          <a:noFill/>
          <a:ln w="0">
            <a:noFill/>
          </a:ln>
        </p:spPr>
        <p:txBody>
          <a:bodyPr lIns="91440" tIns="45720" rIns="91440" bIns="45720" anchor="t">
            <a:normAutofit fontScale="700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Google Sans Text"/>
              </a:rPr>
              <a:t>Unlike X-rays or UV light, radio waves easily pass through both Earth's atmosphere and thick clouds of interstellar dust. We can observe them from the ground, day or night, and even in the rain!</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Google Sans Text"/>
              </a:rPr>
              <a:t>Because radio wavelengths are massive (ranging from millimeters to dozens of meters long), we don't need perfectly polished glass mirrors. We use giant metal dishes or wire meshes to bounce these long waves into a central receiver.</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Google Sans Text"/>
              </a:rPr>
              <a:t>But but but…..Because the wavelength of radio light is so huge, the diameter of the dish must be absolutely massive just to get a blurry image. A radio telescope the size of a football field has worse resolution than the human eye!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pic>
        <p:nvPicPr>
          <p:cNvPr id="111" name="Picture 8" descr="Radio astronomy: from amateur roots to worldwide groups – Physics World"/>
          <p:cNvPicPr/>
          <p:nvPr/>
        </p:nvPicPr>
        <p:blipFill>
          <a:blip r:embed="rId1"/>
          <a:stretch/>
        </p:blipFill>
        <p:spPr>
          <a:xfrm>
            <a:off x="6675840" y="2036520"/>
            <a:ext cx="5044320" cy="336276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 name=""/>
          <p:cNvPicPr/>
          <p:nvPr/>
        </p:nvPicPr>
        <p:blipFill>
          <a:blip r:embed="rId1"/>
          <a:stretch/>
        </p:blipFill>
        <p:spPr>
          <a:xfrm>
            <a:off x="457200" y="685800"/>
            <a:ext cx="5486040" cy="5486040"/>
          </a:xfrm>
          <a:prstGeom prst="rect">
            <a:avLst/>
          </a:prstGeom>
          <a:noFill/>
          <a:ln w="0">
            <a:noFill/>
          </a:ln>
        </p:spPr>
      </p:pic>
      <p:pic>
        <p:nvPicPr>
          <p:cNvPr id="113" name=""/>
          <p:cNvPicPr/>
          <p:nvPr/>
        </p:nvPicPr>
        <p:blipFill>
          <a:blip r:embed="rId2"/>
          <a:stretch/>
        </p:blipFill>
        <p:spPr>
          <a:xfrm>
            <a:off x="6629400" y="0"/>
            <a:ext cx="5028840" cy="686376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1836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Interferometry</a:t>
            </a:r>
            <a:endParaRPr lang="en-GB" sz="4400" b="0" u="none" strike="noStrike">
              <a:solidFill>
                <a:schemeClr val="dk1"/>
              </a:solidFill>
              <a:effectLst/>
              <a:uFillTx/>
              <a:latin typeface="Aptos Display"/>
            </a:endParaRPr>
          </a:p>
        </p:txBody>
      </p:sp>
      <p:sp>
        <p:nvSpPr>
          <p:cNvPr id="115" name="PlaceHolder 2"/>
          <p:cNvSpPr>
            <a:spLocks noGrp="1"/>
          </p:cNvSpPr>
          <p:nvPr>
            <p:ph/>
          </p:nvPr>
        </p:nvSpPr>
        <p:spPr>
          <a:xfrm>
            <a:off x="838080" y="1534680"/>
            <a:ext cx="10514880" cy="5322600"/>
          </a:xfrm>
          <a:prstGeom prst="rect">
            <a:avLst/>
          </a:prstGeom>
          <a:noFill/>
          <a:ln w="0">
            <a:noFill/>
          </a:ln>
        </p:spPr>
        <p:txBody>
          <a:bodyPr lIns="91440" tIns="45720" rIns="91440" bIns="45720" anchor="t">
            <a:normAutofit fontScale="775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If we can't build one massive dish, we build dozens of smaller ones and spread them miles apart.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By pointing all the dishes at the same object and using supercomputers to perfectly synchronize the radio waves arriving at each dish down to the nanosecond, they mathematically act like pieces of one giant, invisible mirror.</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The resolution is no longer limited by the size of a single dish, but by the maximum distance (the baseline) between the furthest dishes in the array.</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The Event Horizon Telescope (EHT):</a:t>
            </a:r>
            <a:r>
              <a:rPr lang="en-IN" sz="2800" b="0" u="none" strike="noStrike">
                <a:solidFill>
                  <a:schemeClr val="dk1"/>
                </a:solidFill>
                <a:effectLst/>
                <a:uFillTx/>
                <a:latin typeface="Aptos"/>
              </a:rPr>
              <a:t> By linking radio observatories across the entire planet from Hawaii to Spain to the South Pole astronomers created a virtual radio telescope the size of the Earth!</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This technique gave us enough resolution to pierce through the dense, hot gas of galaxy M87 and capture the very first direct image of a supermassive black hole's shadow.</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155880" y="365040"/>
            <a:ext cx="1187604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US" sz="4400" b="0" u="none" strike="noStrike">
                <a:solidFill>
                  <a:schemeClr val="dk1"/>
                </a:solidFill>
                <a:effectLst/>
                <a:uFillTx/>
                <a:latin typeface="Aptos Display"/>
              </a:rPr>
              <a:t>Now the question is do we only receive light??!!</a:t>
            </a:r>
            <a:endParaRPr lang="en-GB" sz="4400" b="0" u="none" strike="noStrike">
              <a:solidFill>
                <a:schemeClr val="dk1"/>
              </a:solidFill>
              <a:effectLst/>
              <a:uFillTx/>
              <a:latin typeface="Aptos Display"/>
            </a:endParaRPr>
          </a:p>
        </p:txBody>
      </p:sp>
      <p:sp>
        <p:nvSpPr>
          <p:cNvPr id="117"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fontScale="625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Photons are great, but they can be blocked by dust, absorbed by gas, or trapped entirely by black holes. Fortunately, the universe sends us more than just light.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Cosmic Rays:</a:t>
            </a:r>
            <a:r>
              <a:rPr lang="en-IN" sz="2800" b="0" u="none" strike="noStrike">
                <a:solidFill>
                  <a:schemeClr val="dk1"/>
                </a:solidFill>
                <a:effectLst/>
                <a:uFillTx/>
                <a:latin typeface="Aptos"/>
              </a:rPr>
              <a:t> We are constantly being bombarded by physical, subatomic shrapnel. These are protons and heavy atomic nuclei blasted out by supernovae and active galaxies, traveling at nearly the speed of light. When they hit our atmosphere, they shatter into a shower of secondary particles.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Neutrinos (The Ghost Particles):</a:t>
            </a:r>
            <a:r>
              <a:rPr lang="en-IN" sz="2800" b="0" u="none" strike="noStrike">
                <a:solidFill>
                  <a:schemeClr val="dk1"/>
                </a:solidFill>
                <a:effectLst/>
                <a:uFillTx/>
                <a:latin typeface="Aptos"/>
              </a:rPr>
              <a:t> Trillions of these nearly massless particles pass through your body every second. Because they almost never interact with normal matter, they fly straight out of the dense cores of exploding stars unimpeded. To catch them, we had to build a giant detector (IceCube) buried inside a cubic kilometer of solid ice in Antarctica!</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Aptos"/>
              </a:rPr>
              <a:t>Physical Samples:</a:t>
            </a:r>
            <a:r>
              <a:rPr lang="en-IN" sz="2800" b="0" u="none" strike="noStrike">
                <a:solidFill>
                  <a:schemeClr val="dk1"/>
                </a:solidFill>
                <a:effectLst/>
                <a:uFillTx/>
                <a:latin typeface="Aptos"/>
              </a:rPr>
              <a:t> Sometimes, the universe just hands us the data. Meteorites, Moon rocks, and asteroid samples (like from the OSIRIS-REx mission) allow us to put pieces of the cosmos directly under a microscope.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8" name="Picture 4" descr="Why the Big Bang Produced Something Rather Than Nothing - The New York Times"/>
          <p:cNvPicPr/>
          <p:nvPr/>
        </p:nvPicPr>
        <p:blipFill>
          <a:blip r:embed="rId1"/>
          <a:stretch/>
        </p:blipFill>
        <p:spPr>
          <a:xfrm>
            <a:off x="235440" y="1621080"/>
            <a:ext cx="5088960" cy="3392640"/>
          </a:xfrm>
          <a:prstGeom prst="rect">
            <a:avLst/>
          </a:prstGeom>
          <a:noFill/>
          <a:ln w="0">
            <a:noFill/>
          </a:ln>
        </p:spPr>
      </p:pic>
      <p:pic>
        <p:nvPicPr>
          <p:cNvPr id="119" name="Picture 6" descr="IceCube – IceCube"/>
          <p:cNvPicPr/>
          <p:nvPr/>
        </p:nvPicPr>
        <p:blipFill>
          <a:blip r:embed="rId2"/>
          <a:stretch/>
        </p:blipFill>
        <p:spPr>
          <a:xfrm>
            <a:off x="5601960" y="934560"/>
            <a:ext cx="6354000" cy="476532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18360"/>
            <a:ext cx="1051488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Ripples in Spacetime</a:t>
            </a:r>
            <a:endParaRPr lang="en-GB" sz="4400" b="0" u="none" strike="noStrike">
              <a:solidFill>
                <a:schemeClr val="dk1"/>
              </a:solidFill>
              <a:effectLst/>
              <a:uFillTx/>
              <a:latin typeface="Aptos Display"/>
            </a:endParaRPr>
          </a:p>
        </p:txBody>
      </p:sp>
      <p:sp>
        <p:nvSpPr>
          <p:cNvPr id="121" name="PlaceHolder 2"/>
          <p:cNvSpPr>
            <a:spLocks noGrp="1"/>
          </p:cNvSpPr>
          <p:nvPr>
            <p:ph/>
          </p:nvPr>
        </p:nvSpPr>
        <p:spPr>
          <a:xfrm>
            <a:off x="838080" y="1825560"/>
            <a:ext cx="10514880" cy="4350600"/>
          </a:xfrm>
          <a:prstGeom prst="rect">
            <a:avLst/>
          </a:prstGeom>
          <a:noFill/>
          <a:ln w="0">
            <a:noFill/>
          </a:ln>
        </p:spPr>
        <p:txBody>
          <a:bodyPr lIns="91440" tIns="45720" rIns="91440" bIns="45720" anchor="t">
            <a:normAutofit fontScale="70000" lnSpcReduction="19999"/>
          </a:bodyPr>
          <a:p>
            <a:pPr marL="228600" indent="-228600" algn="l" defTabSz="914400">
              <a:lnSpc>
                <a:spcPct val="90000"/>
              </a:lnSpc>
              <a:spcBef>
                <a:spcPts val="1001"/>
              </a:spcBef>
              <a:buClr>
                <a:srgbClr val="000000"/>
              </a:buClr>
              <a:buFont typeface="Arial"/>
              <a:buChar char="•"/>
            </a:pPr>
            <a:r>
              <a:rPr lang="en-IN" sz="2800" b="0" u="none" strike="noStrike">
                <a:solidFill>
                  <a:schemeClr val="dk1"/>
                </a:solidFill>
                <a:effectLst/>
                <a:uFillTx/>
                <a:latin typeface="Aptos"/>
              </a:rPr>
              <a:t>In 2015, we detected something that wasn't a photon and wasn't a particle. We detected a vibration in the fabric of spacetime itself.</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When incredibly massive, dense objects like two black holes spiral toward each other and merge, they accelerate so violently that they radiate gravitational energy, sending ripples across the universe at the speed of light.</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Just like a bell rings after being struck with a hammer, a newly formed black hole "rings" as it settles into a stable state. This produces a very specific fading wave pattern characterized by Quasi-Normal Modes.</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Aptos"/>
              </a:rPr>
              <a:t>We cannot "see" these waves. Instead, we use massive, L-shaped laser interferometers with arms 4 kilometres long. As a wave passes through Earth, it literally stretches and squeezes the planet, changing the length of those laser arms by a fraction of the width of a proton!</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2" name="Picture 2" descr="Creation of a deep learning algorithm to detect unexpected gravitational  wave events"/>
          <p:cNvPicPr/>
          <p:nvPr/>
        </p:nvPicPr>
        <p:blipFill>
          <a:blip r:embed="rId1"/>
          <a:stretch/>
        </p:blipFill>
        <p:spPr>
          <a:xfrm>
            <a:off x="309240" y="1625400"/>
            <a:ext cx="5107320" cy="4053240"/>
          </a:xfrm>
          <a:prstGeom prst="rect">
            <a:avLst/>
          </a:prstGeom>
          <a:noFill/>
          <a:ln w="0">
            <a:noFill/>
          </a:ln>
        </p:spPr>
      </p:pic>
      <p:pic>
        <p:nvPicPr>
          <p:cNvPr id="123" name="Picture 6" descr="Trio wins physics Nobel Prize for gravitational wave detection"/>
          <p:cNvPicPr/>
          <p:nvPr/>
        </p:nvPicPr>
        <p:blipFill>
          <a:blip r:embed="rId2"/>
          <a:stretch/>
        </p:blipFill>
        <p:spPr>
          <a:xfrm>
            <a:off x="5934600" y="1625400"/>
            <a:ext cx="5947200" cy="405324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194040" y="162720"/>
            <a:ext cx="11803320" cy="1324800"/>
          </a:xfrm>
          <a:prstGeom prst="rect">
            <a:avLst/>
          </a:prstGeom>
          <a:noFill/>
          <a:ln w="0">
            <a:noFill/>
          </a:ln>
        </p:spPr>
        <p:txBody>
          <a:bodyPr lIns="91440" tIns="45720" rIns="91440" bIns="45720" anchor="ctr">
            <a:noAutofit/>
          </a:bodyPr>
          <a:p>
            <a:pPr indent="0" algn="ctr" defTabSz="914400">
              <a:lnSpc>
                <a:spcPct val="90000"/>
              </a:lnSpc>
              <a:buNone/>
              <a:tabLst>
                <a:tab pos="0" algn="l"/>
              </a:tabLst>
            </a:pPr>
            <a:r>
              <a:rPr lang="en-IN" sz="4400" b="0" u="none" strike="noStrike">
                <a:solidFill>
                  <a:schemeClr val="dk1"/>
                </a:solidFill>
                <a:effectLst/>
                <a:uFillTx/>
                <a:latin typeface="Aptos Display"/>
              </a:rPr>
              <a:t>The Golden Rule of Data (Signal-to-Noise Ratio)</a:t>
            </a:r>
            <a:endParaRPr lang="en-GB" sz="4400" b="0" u="none" strike="noStrike">
              <a:solidFill>
                <a:schemeClr val="dk1"/>
              </a:solidFill>
              <a:effectLst/>
              <a:uFillTx/>
              <a:latin typeface="Aptos Display"/>
            </a:endParaRPr>
          </a:p>
        </p:txBody>
      </p:sp>
      <p:sp>
        <p:nvSpPr>
          <p:cNvPr id="125" name="PlaceHolder 2"/>
          <p:cNvSpPr>
            <a:spLocks noGrp="1"/>
          </p:cNvSpPr>
          <p:nvPr>
            <p:ph/>
          </p:nvPr>
        </p:nvSpPr>
        <p:spPr>
          <a:xfrm>
            <a:off x="838080" y="1662840"/>
            <a:ext cx="10514880" cy="5031720"/>
          </a:xfrm>
          <a:prstGeom prst="rect">
            <a:avLst/>
          </a:prstGeom>
          <a:noFill/>
          <a:ln w="0">
            <a:noFill/>
          </a:ln>
        </p:spPr>
        <p:txBody>
          <a:bodyPr lIns="91440" tIns="45720" rIns="91440" bIns="45720" anchor="t">
            <a:normAutofit fontScale="85000" lnSpcReduction="9999"/>
          </a:bodyPr>
          <a:p>
            <a:pPr marL="228600" indent="-228600" algn="l" defTabSz="914400">
              <a:lnSpc>
                <a:spcPct val="90000"/>
              </a:lnSpc>
              <a:spcBef>
                <a:spcPts val="1001"/>
              </a:spcBef>
              <a:buClr>
                <a:srgbClr val="000000"/>
              </a:buClr>
              <a:buFont typeface="Arial"/>
              <a:buChar char="•"/>
            </a:pPr>
            <a:r>
              <a:rPr lang="en-IN" sz="2800" b="1" u="none" strike="noStrike">
                <a:solidFill>
                  <a:schemeClr val="dk1"/>
                </a:solidFill>
                <a:effectLst/>
                <a:uFillTx/>
                <a:latin typeface="Google Sans Text"/>
              </a:rPr>
              <a:t>The Signal:</a:t>
            </a:r>
            <a:r>
              <a:rPr lang="en-IN" sz="2800" b="0" u="none" strike="noStrike">
                <a:solidFill>
                  <a:schemeClr val="dk1"/>
                </a:solidFill>
                <a:effectLst/>
                <a:uFillTx/>
                <a:latin typeface="Google Sans Text"/>
              </a:rPr>
              <a:t> The actual photons (or gravitational waves!) arriving from your target. This is the physics you want to measure.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Google Sans Text"/>
              </a:rPr>
              <a:t>The Noise:</a:t>
            </a:r>
            <a:r>
              <a:rPr lang="en-IN" sz="2800" b="0" u="none" strike="noStrike">
                <a:solidFill>
                  <a:schemeClr val="dk1"/>
                </a:solidFill>
                <a:effectLst/>
                <a:uFillTx/>
                <a:latin typeface="Google Sans Text"/>
              </a:rPr>
              <a:t> Random interference hiding your data. It comes from the sky glowing, thermal heat inside the telescope's electronics, and the quantum randomness of light itself (Poisson noise).</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1" u="none" strike="noStrike">
                <a:solidFill>
                  <a:schemeClr val="dk1"/>
                </a:solidFill>
                <a:effectLst/>
                <a:uFillTx/>
                <a:latin typeface="Google Sans Text"/>
              </a:rPr>
              <a:t>The Equation:</a:t>
            </a:r>
            <a:r>
              <a:rPr lang="en-IN" sz="2800" b="0" u="none" strike="noStrike">
                <a:solidFill>
                  <a:schemeClr val="dk1"/>
                </a:solidFill>
                <a:effectLst/>
                <a:uFillTx/>
                <a:latin typeface="Google Sans Text"/>
              </a:rPr>
              <a:t> In astronomy, the noise scales with the </a:t>
            </a:r>
            <a:r>
              <a:rPr lang="en-IN" sz="2800" b="0" i="1" u="none" strike="noStrike">
                <a:solidFill>
                  <a:schemeClr val="dk1"/>
                </a:solidFill>
                <a:effectLst/>
                <a:uFillTx/>
                <a:latin typeface="Google Sans Text"/>
              </a:rPr>
              <a:t>square root</a:t>
            </a:r>
            <a:r>
              <a:rPr lang="en-IN" sz="2800" b="0" u="none" strike="noStrike">
                <a:solidFill>
                  <a:schemeClr val="dk1"/>
                </a:solidFill>
                <a:effectLst/>
                <a:uFillTx/>
                <a:latin typeface="Google Sans Text"/>
              </a:rPr>
              <a:t> of the total photons collected N.</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IN" sz="2800" b="0" u="none" strike="noStrike">
                <a:solidFill>
                  <a:schemeClr val="dk1"/>
                </a:solidFill>
                <a:effectLst/>
                <a:uFillTx/>
                <a:latin typeface="Google Sans Text"/>
              </a:rPr>
              <a:t>To double your SNR, you can't just double your exposure time; you have to take </a:t>
            </a:r>
            <a:r>
              <a:rPr lang="en-IN" sz="2800" b="1" u="none" strike="noStrike">
                <a:solidFill>
                  <a:schemeClr val="dk1"/>
                </a:solidFill>
                <a:effectLst/>
                <a:uFillTx/>
                <a:latin typeface="Google Sans Text"/>
              </a:rPr>
              <a:t>four times</a:t>
            </a:r>
            <a:r>
              <a:rPr lang="en-IN" sz="2800" b="0" u="none" strike="noStrike">
                <a:solidFill>
                  <a:schemeClr val="dk1"/>
                </a:solidFill>
                <a:effectLst/>
                <a:uFillTx/>
                <a:latin typeface="Google Sans Text"/>
              </a:rPr>
              <a:t> as many exposures. This is why astrophotographers and space telescopes take hundreds of individual images and mathematically average (stack) them together!</a:t>
            </a:r>
            <a:endParaRPr lang="en-GB"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GB"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263</TotalTime>
  <Application>LibreOffice/26.2.3.2$Linux_X86_64 LibreOffice_project/d4d5ed47b6084125f28d269a5650105d54dde034</Application>
  <AppVersion>15.0000</AppVersion>
  <Words>2738</Words>
  <Paragraphs>153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2026-03-03T05:35:52Z</dcterms:created>
  <dc:creator>Gaurav Rachh</dc:creator>
  <dc:description/>
  <dc:language>en-US</dc:language>
  <cp:lastModifiedBy/>
  <dcterms:modified xsi:type="dcterms:W3CDTF">2026-06-10T02:38:48Z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26</vt:i4>
  </property>
</Properties>
</file>