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media/image4.gif" ContentType="image/gif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204120"/>
            <a:ext cx="1051452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</a:t>
            </a:r>
            <a:r>
              <a:rPr lang="en-GB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format</a:t>
            </a:r>
            <a:endParaRPr lang="en-GB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Outline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7A99C6D-2C57-4F15-824A-5FCA62D17DA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204120"/>
            <a:ext cx="1051452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GB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C3FF0B-7E81-4328-B610-2571ECA5CF8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684360"/>
            <a:ext cx="10514520" cy="68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GB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E26784C-4F5A-49D6-A4A1-779B3365FE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684360"/>
            <a:ext cx="10514520" cy="68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GB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793DDE5-4715-49D8-BB34-ED7C2F94DE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725400"/>
            <a:ext cx="1051452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GB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1D81CF-1F66-47D4-AD0D-FDFF534C8CB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725400"/>
            <a:ext cx="1051452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GB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3DCBEB-E7CD-499E-9F9E-4C81C4464D4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725400"/>
            <a:ext cx="1051452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GB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A800BD3-95CF-4F7A-82EC-18C19A54980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725400"/>
            <a:ext cx="1051452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GB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 fontScale="8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FD94484-32C6-458C-9808-1B5B9D3F3BB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684360"/>
            <a:ext cx="1051452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GB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 fontScale="8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DB4181-673B-4101-9D5A-7CC30B687D7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223524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Lecture : 4</a:t>
            </a:r>
            <a:br>
              <a:rPr sz="6000"/>
            </a:br>
            <a:br>
              <a:rPr sz="6000"/>
            </a:b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Mechanics &amp; Gravitation</a:t>
            </a:r>
            <a:endParaRPr lang="en-GB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42" name=""/>
          <p:cNvPicPr/>
          <p:nvPr/>
        </p:nvPicPr>
        <p:blipFill>
          <a:blip r:embed="rId1"/>
          <a:stretch/>
        </p:blipFill>
        <p:spPr>
          <a:xfrm>
            <a:off x="8001000" y="228600"/>
            <a:ext cx="3885480" cy="194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Newton Law’s of Gravitation</a:t>
            </a:r>
            <a:endParaRPr lang="en-GB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>
                    <a:alpha val="1000"/>
                  </a:schemeClr>
                </a:solidFill>
                <a:effectLst/>
                <a:uFillTx/>
                <a:latin typeface="Aptos"/>
              </a:rPr>
              <a:t> 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Orbital Mechanics </a:t>
            </a:r>
            <a:endParaRPr lang="en-GB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838080" y="1482480"/>
            <a:ext cx="10514520" cy="5374440"/>
          </a:xfrm>
          <a:prstGeom prst="rect">
            <a:avLst/>
          </a:prstGeom>
          <a:blipFill rotWithShape="0">
            <a:blip r:embed="rId1"/>
            <a:stretch>
              <a:fillRect l="-845" t="-2595" b="-2595"/>
            </a:stretch>
          </a:blipFill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>
                    <a:alpha val="1000"/>
                  </a:schemeClr>
                </a:solidFill>
                <a:effectLst/>
                <a:uFillTx/>
                <a:latin typeface="Aptos"/>
              </a:rPr>
              <a:t> 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2" descr="Circular Orbit - an overview | ScienceDirect Topics"/>
          <p:cNvPicPr/>
          <p:nvPr/>
        </p:nvPicPr>
        <p:blipFill>
          <a:blip r:embed="rId1"/>
          <a:stretch/>
        </p:blipFill>
        <p:spPr>
          <a:xfrm>
            <a:off x="3629880" y="354600"/>
            <a:ext cx="6538680" cy="614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Tidal Forces</a:t>
            </a:r>
            <a:endParaRPr lang="en-GB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47200" y="1343880"/>
            <a:ext cx="4716360" cy="549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Gravity weakens with distance, so the near side of an object feels stronger pull than the far side.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Tidal Bulges: This difference stretches bodies, producing ocean tides on Earth.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Tidal Locking: Over time, rotation synchronizes with orbit, as seen in Earth’s Moon.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0" name="Picture 4" descr="Tidal Forces"/>
          <p:cNvPicPr/>
          <p:nvPr/>
        </p:nvPicPr>
        <p:blipFill>
          <a:blip r:embed="rId1"/>
          <a:stretch/>
        </p:blipFill>
        <p:spPr>
          <a:xfrm>
            <a:off x="5874480" y="2783520"/>
            <a:ext cx="5769360" cy="230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Roche Limit</a:t>
            </a:r>
            <a:endParaRPr lang="en-GB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11760" y="1533240"/>
            <a:ext cx="5395320" cy="56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Definition: The minimum distance at which a satellite can orbit without being torn apart by tidal forces.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Structural Dependence: Rigid bodies survive closer than fluid bodies.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Ring Formation: Planetary rings often form from material inside the Roche limit.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Mathematical Form: Depends on densities of primary and secondary bodies.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Cosmic Sculptor: Explains why moons are absent within certain orbital radii.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3" name="Picture 2" descr="Roche Limit – The Wandering Star"/>
          <p:cNvPicPr/>
          <p:nvPr/>
        </p:nvPicPr>
        <p:blipFill>
          <a:blip r:embed="rId1"/>
          <a:stretch/>
        </p:blipFill>
        <p:spPr>
          <a:xfrm>
            <a:off x="6483960" y="1533240"/>
            <a:ext cx="4575600" cy="479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-14508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Gravitational Slingshot</a:t>
            </a:r>
            <a:endParaRPr lang="en-GB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311760" y="1027800"/>
            <a:ext cx="4273200" cy="617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Momentum Exchange: A spacecraft can gain or lose orbital energy by passing close to a moving planet.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 Free Energy: The spacecraft steals a tiny amount of the planet’s orbital momentum. The planet slows by an immeasurable amount.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Velocity Boost: In the Sun’s reference frame, the spacecraft exits with greater speed than it entered.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Trajectory Bending: The planet’s gravity curves the path like a cosmic billiards cushion.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Mission Game-Changer: Enables deep space missions without carrying impossible amounts of fuel.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6" name="Picture 2" descr="Gravitational Slingshot"/>
          <p:cNvPicPr/>
          <p:nvPr/>
        </p:nvPicPr>
        <p:blipFill>
          <a:blip r:embed="rId1"/>
          <a:stretch/>
        </p:blipFill>
        <p:spPr>
          <a:xfrm>
            <a:off x="4585680" y="2095560"/>
            <a:ext cx="7213680" cy="3403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Lagrange Points</a:t>
            </a:r>
            <a:endParaRPr lang="en-GB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67360" y="1498320"/>
            <a:ext cx="4635720" cy="534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Gravitational Equilibrium: Lagrange points occur where gravitational forces of two massive bodies and orbital motion balance perfectly.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Five Special Locations: L1, L2, L3 lie along the line connecting the two bodies. L4 and L5 form equilateral triangles with them.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Stable vs Unstable: L4 and L5 are naturally stable. L1, L2, and L3 require active station-keeping.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Strategic Real Estate: Ideal for space telescopes and observation satellites.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Minimal Fuel Advantage: Objects placed here require very little energy to maintain position.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9" name="Picture 1" descr="What is a Lagrange Point? - NASA Science"/>
          <p:cNvPicPr/>
          <p:nvPr/>
        </p:nvPicPr>
        <p:blipFill>
          <a:blip r:embed="rId1"/>
          <a:stretch/>
        </p:blipFill>
        <p:spPr>
          <a:xfrm>
            <a:off x="5961960" y="1498320"/>
            <a:ext cx="5390640" cy="471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429000" y="685440"/>
            <a:ext cx="10514520" cy="62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sarthak.phys@gmail.com</a:t>
            </a:r>
            <a:endParaRPr lang="en-GB" sz="3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61" name=""/>
          <p:cNvPicPr/>
          <p:nvPr/>
        </p:nvPicPr>
        <p:blipFill>
          <a:blip r:embed="rId1"/>
          <a:stretch/>
        </p:blipFill>
        <p:spPr>
          <a:xfrm>
            <a:off x="3429000" y="1339200"/>
            <a:ext cx="5486040" cy="548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"/>
          <p:cNvPicPr/>
          <p:nvPr/>
        </p:nvPicPr>
        <p:blipFill>
          <a:blip r:embed="rId1"/>
          <a:stretch/>
        </p:blipFill>
        <p:spPr>
          <a:xfrm>
            <a:off x="3657600" y="533880"/>
            <a:ext cx="5637960" cy="563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2508</TotalTime>
  <Application>LibreOffice/26.2.3.2$Linux_X86_64 LibreOffice_project/d4d5ed47b6084125f28d269a5650105d54dde034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2026-03-03T07:20:43Z</dcterms:created>
  <dc:creator>Gaurav Rachh</dc:creator>
  <dc:description/>
  <dc:language>en-US</dc:language>
  <cp:lastModifiedBy/>
  <dcterms:modified xsi:type="dcterms:W3CDTF">2026-06-10T14:18:56Z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8</vt:r8>
  </property>
</Properties>
</file>