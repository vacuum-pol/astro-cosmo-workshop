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media/image21.svg" ContentType="image/svg"/>
  <Override PartName="/ppt/media/image11.gif" ContentType="image/gif"/>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CC72129-4099-4FB8-8424-C15C1EEC1E3F}"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GB" sz="3200" b="0" u="none" strike="noStrike">
                <a:solidFill>
                  <a:schemeClr val="dk1"/>
                </a:solidFill>
                <a:effectLst/>
                <a:uFillTx/>
                <a:latin typeface="Aptos Display"/>
              </a:defRPr>
            </a:lvl1pPr>
          </a:lstStyle>
          <a:p>
            <a:pPr indent="0" algn="l" defTabSz="914400">
              <a:lnSpc>
                <a:spcPct val="90000"/>
              </a:lnSpc>
              <a:buNone/>
              <a:tabLst>
                <a:tab pos="0" algn="l"/>
              </a:tabLst>
            </a:pPr>
            <a:r>
              <a:rPr lang="en-GB" sz="3200" b="0" u="none" strike="noStrike">
                <a:solidFill>
                  <a:schemeClr val="dk1"/>
                </a:solidFill>
                <a:effectLst/>
                <a:uFillTx/>
                <a:latin typeface="Aptos Display"/>
              </a:rPr>
              <a:t>Click to edit Master title style</a:t>
            </a:r>
            <a:endParaRPr lang="en-GB" sz="3200" b="0" u="none" strike="noStrike">
              <a:solidFill>
                <a:schemeClr val="dk1"/>
              </a:solidFill>
              <a:effectLst/>
              <a:uFillTx/>
              <a:latin typeface="Aptos Display"/>
            </a:endParaRPr>
          </a:p>
        </p:txBody>
      </p:sp>
      <p:sp>
        <p:nvSpPr>
          <p:cNvPr id="6"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GB"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3200" b="0" u="none" strike="noStrike">
                <a:solidFill>
                  <a:schemeClr val="dk1"/>
                </a:solidFill>
                <a:effectLst/>
                <a:uFillTx/>
                <a:latin typeface="Aptos"/>
              </a:rPr>
              <a:t>Click to edit Master text styles</a:t>
            </a:r>
            <a:endParaRPr lang="en-GB"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800" b="0" u="none" strike="noStrike">
                <a:solidFill>
                  <a:schemeClr val="dk1"/>
                </a:solidFill>
                <a:effectLst/>
                <a:uFillTx/>
                <a:latin typeface="Aptos"/>
              </a:rPr>
              <a:t>Second level</a:t>
            </a:r>
            <a:endParaRPr lang="en-GB"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Third level</a:t>
            </a:r>
            <a:endParaRPr lang="en-GB"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Fourth level</a:t>
            </a:r>
            <a:endParaRPr lang="en-GB"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Fifth level</a:t>
            </a:r>
            <a:endParaRPr lang="en-GB" sz="2000" b="0" u="none" strike="noStrike">
              <a:solidFill>
                <a:schemeClr val="dk1"/>
              </a:solidFill>
              <a:effectLst/>
              <a:uFillTx/>
              <a:latin typeface="Aptos"/>
            </a:endParaRPr>
          </a:p>
        </p:txBody>
      </p:sp>
      <p:sp>
        <p:nvSpPr>
          <p:cNvPr id="7"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GB"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GB" sz="1600" b="0" u="none" strike="noStrike">
                <a:solidFill>
                  <a:schemeClr val="dk1"/>
                </a:solidFill>
                <a:effectLst/>
                <a:uFillTx/>
                <a:latin typeface="Aptos"/>
              </a:rPr>
              <a:t>Click to edit Master text styles</a:t>
            </a:r>
            <a:endParaRPr lang="en-GB" sz="1600" b="0" u="none" strike="noStrike">
              <a:solidFill>
                <a:schemeClr val="dk1"/>
              </a:solidFill>
              <a:effectLst/>
              <a:uFillTx/>
              <a:latin typeface="Aptos"/>
            </a:endParaRPr>
          </a:p>
        </p:txBody>
      </p:sp>
      <p:sp>
        <p:nvSpPr>
          <p:cNvPr id="8" name="PlaceHolder 4"/>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9" name="PlaceHolder 5"/>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6"/>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DE7B4148-7096-4F3F-AFEA-64F550B59063}"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GB" sz="3200" b="0" u="none" strike="noStrike">
                <a:solidFill>
                  <a:schemeClr val="dk1"/>
                </a:solidFill>
                <a:effectLst/>
                <a:uFillTx/>
                <a:latin typeface="Aptos Display"/>
              </a:defRPr>
            </a:lvl1pPr>
          </a:lstStyle>
          <a:p>
            <a:pPr indent="0" algn="l" defTabSz="914400">
              <a:lnSpc>
                <a:spcPct val="90000"/>
              </a:lnSpc>
              <a:buNone/>
              <a:tabLst>
                <a:tab pos="0" algn="l"/>
              </a:tabLst>
            </a:pPr>
            <a:r>
              <a:rPr lang="en-GB" sz="3200" b="0" u="none" strike="noStrike">
                <a:solidFill>
                  <a:schemeClr val="dk1"/>
                </a:solidFill>
                <a:effectLst/>
                <a:uFillTx/>
                <a:latin typeface="Aptos Display"/>
              </a:rPr>
              <a:t>Click to edit Master title style</a:t>
            </a:r>
            <a:endParaRPr lang="en-GB" sz="3200" b="0" u="none" strike="noStrike">
              <a:solidFill>
                <a:schemeClr val="dk1"/>
              </a:solidFill>
              <a:effectLst/>
              <a:uFillTx/>
              <a:latin typeface="Aptos Display"/>
            </a:endParaRPr>
          </a:p>
        </p:txBody>
      </p:sp>
      <p:sp>
        <p:nvSpPr>
          <p:cNvPr id="12" name="PlaceHolder 2"/>
          <p:cNvSpPr>
            <a:spLocks noGrp="1"/>
          </p:cNvSpPr>
          <p:nvPr>
            <p:ph type="body"/>
          </p:nvPr>
        </p:nvSpPr>
        <p:spPr>
          <a:xfrm>
            <a:off x="5183280" y="987480"/>
            <a:ext cx="6171480" cy="487296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7pPr>
          </a:lstStyle>
          <a:p>
            <a:pPr marL="432000" indent="-324000" algn="l" defTabSz="914400">
              <a:lnSpc>
                <a:spcPct val="90000"/>
              </a:lnSpc>
              <a:spcBef>
                <a:spcPts val="1001"/>
              </a:spcBef>
              <a:buClr>
                <a:srgbClr val="000000"/>
              </a:buClr>
              <a:buFont typeface="Arial"/>
              <a:buChar char="•"/>
              <a:tabLst>
                <a:tab pos="0" algn="l"/>
              </a:tabLst>
            </a:pPr>
            <a:r>
              <a:rPr lang="en-US" sz="3200" b="0" u="none" strike="noStrike">
                <a:solidFill>
                  <a:schemeClr val="dk1"/>
                </a:solidFill>
                <a:effectLst/>
                <a:uFillTx/>
                <a:latin typeface="Aptos"/>
              </a:rPr>
              <a:t>Click to edit the outline text format</a:t>
            </a:r>
            <a:endParaRPr lang="en-GB" sz="3200" b="0" u="none" strike="noStrike">
              <a:solidFill>
                <a:schemeClr val="dk1"/>
              </a:solidFill>
              <a:effectLst/>
              <a:uFillTx/>
              <a:latin typeface="Aptos"/>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Aptos"/>
              </a:rPr>
              <a:t>Second Outline Level</a:t>
            </a:r>
            <a:endParaRPr lang="en-US" sz="3200" b="0" u="none" strike="noStrike">
              <a:solidFill>
                <a:schemeClr val="dk1"/>
              </a:solidFill>
              <a:effectLst/>
              <a:uFillTx/>
              <a:latin typeface="Aptos"/>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Third Outline Level</a:t>
            </a:r>
            <a:endParaRPr lang="en-US" sz="3200" b="0" u="none" strike="noStrike">
              <a:solidFill>
                <a:schemeClr val="dk1"/>
              </a:solidFill>
              <a:effectLst/>
              <a:uFillTx/>
              <a:latin typeface="Aptos"/>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Aptos"/>
              </a:rPr>
              <a:t>Fourth Outline Level</a:t>
            </a:r>
            <a:endParaRPr lang="en-US" sz="3200" b="0" u="none" strike="noStrike">
              <a:solidFill>
                <a:schemeClr val="dk1"/>
              </a:solidFill>
              <a:effectLst/>
              <a:uFillTx/>
              <a:latin typeface="Aptos"/>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Fifth Outline Level</a:t>
            </a:r>
            <a:endParaRPr lang="en-US" sz="3200" b="0" u="none" strike="noStrike">
              <a:solidFill>
                <a:schemeClr val="dk1"/>
              </a:solidFill>
              <a:effectLst/>
              <a:uFillTx/>
              <a:latin typeface="Aptos"/>
            </a:endParaRPr>
          </a:p>
          <a:p>
            <a:pPr marL="2286000" lvl="5"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Sixth Outline Level</a:t>
            </a:r>
            <a:endParaRPr lang="en-US" sz="3200" b="0" u="none" strike="noStrike">
              <a:solidFill>
                <a:schemeClr val="dk1"/>
              </a:solidFill>
              <a:effectLst/>
              <a:uFillTx/>
              <a:latin typeface="Aptos"/>
            </a:endParaRPr>
          </a:p>
          <a:p>
            <a:pPr marL="2743200" lvl="6"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Seventh Outline Level</a:t>
            </a:r>
            <a:endParaRPr lang="en-US" sz="3200" b="0" u="none" strike="noStrike">
              <a:solidFill>
                <a:schemeClr val="dk1"/>
              </a:solidFill>
              <a:effectLst/>
              <a:uFillTx/>
              <a:latin typeface="Aptos"/>
            </a:endParaRPr>
          </a:p>
        </p:txBody>
      </p:sp>
      <p:sp>
        <p:nvSpPr>
          <p:cNvPr id="13"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GB"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GB" sz="1600" b="0" u="none" strike="noStrike">
                <a:solidFill>
                  <a:schemeClr val="dk1"/>
                </a:solidFill>
                <a:effectLst/>
                <a:uFillTx/>
                <a:latin typeface="Aptos"/>
              </a:rPr>
              <a:t>Click to edit Master text styles</a:t>
            </a:r>
            <a:endParaRPr lang="en-GB" sz="1600" b="0" u="none" strike="noStrike">
              <a:solidFill>
                <a:schemeClr val="dk1"/>
              </a:solidFill>
              <a:effectLst/>
              <a:uFillTx/>
              <a:latin typeface="Aptos"/>
            </a:endParaRPr>
          </a:p>
        </p:txBody>
      </p:sp>
      <p:sp>
        <p:nvSpPr>
          <p:cNvPr id="14" name="PlaceHolder 4"/>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5" name="PlaceHolder 5"/>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6"/>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2383C01-CFB5-49C5-B957-F7FDD1771263}"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GB" sz="6000" b="0" u="none" strike="noStrike">
                <a:solidFill>
                  <a:schemeClr val="dk1"/>
                </a:solidFill>
                <a:effectLst/>
                <a:uFillTx/>
                <a:latin typeface="Aptos Display"/>
              </a:defRPr>
            </a:lvl1pPr>
          </a:lstStyle>
          <a:p>
            <a:pPr indent="0" algn="ctr" defTabSz="914400">
              <a:lnSpc>
                <a:spcPct val="90000"/>
              </a:lnSpc>
              <a:buNone/>
              <a:tabLst>
                <a:tab pos="0" algn="l"/>
              </a:tabLst>
            </a:pPr>
            <a:r>
              <a:rPr lang="en-GB" sz="6000" b="0" u="none" strike="noStrike">
                <a:solidFill>
                  <a:schemeClr val="dk1"/>
                </a:solidFill>
                <a:effectLst/>
                <a:uFillTx/>
                <a:latin typeface="Aptos Display"/>
              </a:rPr>
              <a:t>Click to edit Master title style</a:t>
            </a:r>
            <a:endParaRPr lang="en-GB" sz="6000" b="0" u="none" strike="noStrike">
              <a:solidFill>
                <a:schemeClr val="dk1"/>
              </a:solidFill>
              <a:effectLst/>
              <a:uFillTx/>
              <a:latin typeface="Aptos Display"/>
            </a:endParaRPr>
          </a:p>
        </p:txBody>
      </p:sp>
      <p:sp>
        <p:nvSpPr>
          <p:cNvPr id="18" name="PlaceHolder 2"/>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9" name="PlaceHolder 3"/>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4"/>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DD6A4B7-DA21-4705-844C-43BB7B46E230}"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
        <p:nvSpPr>
          <p:cNvPr id="21"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23"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24" name="PlaceHolder 3"/>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74AD2B7-2F09-47FC-B936-D3D6DB1C2AB6}"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724960" y="365040"/>
            <a:ext cx="2628360" cy="581112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28" name="PlaceHolder 2"/>
          <p:cNvSpPr>
            <a:spLocks noGrp="1"/>
          </p:cNvSpPr>
          <p:nvPr>
            <p:ph type="body"/>
          </p:nvPr>
        </p:nvSpPr>
        <p:spPr>
          <a:xfrm>
            <a:off x="838080" y="365040"/>
            <a:ext cx="7733520" cy="58111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29" name="PlaceHolder 3"/>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0" name="PlaceHolder 4"/>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5"/>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D97F5BA3-553C-4360-A7BE-E438678FA517}"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33"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34" name="PlaceHolder 3"/>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5" name="PlaceHolder 4"/>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 name="PlaceHolder 5"/>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D3C15F46-7593-4459-AC26-E716EF5AF2FB}"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GB" sz="6000" b="0" u="none" strike="noStrike">
                <a:solidFill>
                  <a:schemeClr val="dk1"/>
                </a:solidFill>
                <a:effectLst/>
                <a:uFillTx/>
                <a:latin typeface="Aptos Display"/>
              </a:defRPr>
            </a:lvl1pPr>
          </a:lstStyle>
          <a:p>
            <a:pPr indent="0" algn="l" defTabSz="914400">
              <a:lnSpc>
                <a:spcPct val="90000"/>
              </a:lnSpc>
              <a:buNone/>
              <a:tabLst>
                <a:tab pos="0" algn="l"/>
              </a:tabLst>
            </a:pPr>
            <a:r>
              <a:rPr lang="en-GB" sz="6000" b="0" u="none" strike="noStrike">
                <a:solidFill>
                  <a:schemeClr val="dk1"/>
                </a:solidFill>
                <a:effectLst/>
                <a:uFillTx/>
                <a:latin typeface="Aptos Display"/>
              </a:rPr>
              <a:t>Click to edit Master title style</a:t>
            </a:r>
            <a:endParaRPr lang="en-GB" sz="6000" b="0" u="none" strike="noStrike">
              <a:solidFill>
                <a:schemeClr val="dk1"/>
              </a:solidFill>
              <a:effectLst/>
              <a:uFillTx/>
              <a:latin typeface="Aptos Display"/>
            </a:endParaRPr>
          </a:p>
        </p:txBody>
      </p:sp>
      <p:sp>
        <p:nvSpPr>
          <p:cNvPr id="38"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GB"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GB" sz="2400" b="0" u="none" strike="noStrike">
                <a:solidFill>
                  <a:schemeClr val="dk1">
                    <a:tint val="82000"/>
                  </a:schemeClr>
                </a:solidFill>
                <a:effectLst/>
                <a:uFillTx/>
                <a:latin typeface="Aptos"/>
              </a:rPr>
              <a:t>Click to edit Master text styles</a:t>
            </a:r>
            <a:endParaRPr lang="en-GB" sz="2400" b="0" u="none" strike="noStrike">
              <a:solidFill>
                <a:schemeClr val="dk1">
                  <a:tint val="82000"/>
                </a:schemeClr>
              </a:solidFill>
              <a:effectLst/>
              <a:uFillTx/>
              <a:latin typeface="Aptos"/>
            </a:endParaRPr>
          </a:p>
        </p:txBody>
      </p:sp>
      <p:sp>
        <p:nvSpPr>
          <p:cNvPr id="39" name="PlaceHolder 3"/>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0" name="PlaceHolder 4"/>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 name="PlaceHolder 5"/>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22EFD498-3DE2-4C51-85AE-03911C4B21A2}"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43"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44"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45" name="PlaceHolder 4"/>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6" name="PlaceHolder 5"/>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6"/>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1F8B162D-5749-4A72-93C5-A403D026C908}"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49"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GB"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GB" sz="2400" b="1" u="none" strike="noStrike">
                <a:solidFill>
                  <a:schemeClr val="dk1"/>
                </a:solidFill>
                <a:effectLst/>
                <a:uFillTx/>
                <a:latin typeface="Aptos"/>
              </a:rPr>
              <a:t>Click to edit Master text styles</a:t>
            </a:r>
            <a:endParaRPr lang="en-GB" sz="2400" b="0" u="none" strike="noStrike">
              <a:solidFill>
                <a:schemeClr val="dk1"/>
              </a:solidFill>
              <a:effectLst/>
              <a:uFillTx/>
              <a:latin typeface="Aptos"/>
            </a:endParaRPr>
          </a:p>
        </p:txBody>
      </p:sp>
      <p:sp>
        <p:nvSpPr>
          <p:cNvPr id="50"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51"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GB"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GB" sz="2400" b="1" u="none" strike="noStrike">
                <a:solidFill>
                  <a:schemeClr val="dk1"/>
                </a:solidFill>
                <a:effectLst/>
                <a:uFillTx/>
                <a:latin typeface="Aptos"/>
              </a:rPr>
              <a:t>Click to edit Master text styles</a:t>
            </a:r>
            <a:endParaRPr lang="en-GB" sz="2400" b="0" u="none" strike="noStrike">
              <a:solidFill>
                <a:schemeClr val="dk1"/>
              </a:solidFill>
              <a:effectLst/>
              <a:uFillTx/>
              <a:latin typeface="Aptos"/>
            </a:endParaRPr>
          </a:p>
        </p:txBody>
      </p:sp>
      <p:sp>
        <p:nvSpPr>
          <p:cNvPr id="52"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53" name="PlaceHolder 6"/>
          <p:cNvSpPr>
            <a:spLocks noGrp="1"/>
          </p:cNvSpPr>
          <p:nvPr>
            <p:ph type="dt" idx="28"/>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4" name="PlaceHolder 7"/>
          <p:cNvSpPr>
            <a:spLocks noGrp="1"/>
          </p:cNvSpPr>
          <p:nvPr>
            <p:ph type="ftr" idx="2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5" name="PlaceHolder 8"/>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B32DE837-A9B8-4F99-9B92-4DF569846B94}"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57" name="PlaceHolder 2"/>
          <p:cNvSpPr>
            <a:spLocks noGrp="1"/>
          </p:cNvSpPr>
          <p:nvPr>
            <p:ph type="dt" idx="3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8" name="PlaceHolder 3"/>
          <p:cNvSpPr>
            <a:spLocks noGrp="1"/>
          </p:cNvSpPr>
          <p:nvPr>
            <p:ph type="ftr" idx="3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4"/>
          <p:cNvSpPr>
            <a:spLocks noGrp="1"/>
          </p:cNvSpPr>
          <p:nvPr>
            <p:ph type="sldNum" idx="3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059609D7-0ED1-43C3-9CCB-006C9C64A16A}"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7.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7.xml"/>
</Relationships>
</file>

<file path=ppt/slides/_rels/slide25.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svg"/><Relationship Id="rId3" Type="http://schemas.openxmlformats.org/officeDocument/2006/relationships/image" Target="../media/image22.png"/><Relationship Id="rId4" Type="http://schemas.openxmlformats.org/officeDocument/2006/relationships/slideLayout" Target="../slideLayouts/slideLayout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801080" y="1924560"/>
            <a:ext cx="8589240" cy="3008160"/>
          </a:xfrm>
          <a:prstGeom prst="rect">
            <a:avLst/>
          </a:prstGeom>
          <a:noFill/>
          <a:ln w="0">
            <a:noFill/>
          </a:ln>
        </p:spPr>
        <p:txBody>
          <a:bodyPr lIns="91440" tIns="45720" rIns="91440" bIns="45720" anchor="b">
            <a:normAutofit fontScale="85000" lnSpcReduction="19999"/>
          </a:bodyPr>
          <a:p>
            <a:pPr indent="0" algn="ctr" defTabSz="914400">
              <a:lnSpc>
                <a:spcPct val="90000"/>
              </a:lnSpc>
              <a:buNone/>
              <a:tabLst>
                <a:tab pos="0" algn="l"/>
              </a:tabLst>
            </a:pPr>
            <a:br>
              <a:rPr sz="6000"/>
            </a:br>
            <a:r>
              <a:rPr lang="en-US" sz="6000" b="0" u="none" strike="noStrike">
                <a:solidFill>
                  <a:schemeClr val="dk1"/>
                </a:solidFill>
                <a:effectLst/>
                <a:uFillTx/>
                <a:latin typeface="Aptos Display"/>
              </a:rPr>
              <a:t>Lecture : 1</a:t>
            </a:r>
            <a:br>
              <a:rPr sz="6000"/>
            </a:br>
            <a:br>
              <a:rPr sz="6000"/>
            </a:br>
            <a:r>
              <a:rPr lang="en-US" sz="6000" b="0" u="none" strike="noStrike">
                <a:solidFill>
                  <a:schemeClr val="dk1"/>
                </a:solidFill>
                <a:effectLst/>
                <a:uFillTx/>
                <a:latin typeface="Aptos Display"/>
              </a:rPr>
              <a:t>Basics of Astronomy and Astrophysics </a:t>
            </a:r>
            <a:endParaRPr lang="en-GB" sz="6000" b="0" u="none" strike="noStrike">
              <a:solidFill>
                <a:schemeClr val="dk1"/>
              </a:solidFill>
              <a:effectLst/>
              <a:uFillTx/>
              <a:latin typeface="Aptos Display"/>
            </a:endParaRPr>
          </a:p>
        </p:txBody>
      </p:sp>
      <p:pic>
        <p:nvPicPr>
          <p:cNvPr id="61" name=""/>
          <p:cNvPicPr/>
          <p:nvPr/>
        </p:nvPicPr>
        <p:blipFill>
          <a:blip r:embed="rId1"/>
          <a:stretch/>
        </p:blipFill>
        <p:spPr>
          <a:xfrm>
            <a:off x="7104960" y="228600"/>
            <a:ext cx="4572000" cy="22860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1118160" y="322560"/>
            <a:ext cx="9954720" cy="1900440"/>
          </a:xfrm>
          <a:prstGeom prst="rect">
            <a:avLst/>
          </a:prstGeom>
          <a:noFill/>
          <a:ln w="0">
            <a:noFill/>
          </a:ln>
        </p:spPr>
        <p:txBody>
          <a:bodyPr lIns="91440" tIns="45720" rIns="91440" bIns="45720" anchor="ctr">
            <a:normAutofit fontScale="85000" lnSpcReduction="9999"/>
          </a:bodyPr>
          <a:p>
            <a:pPr indent="0" algn="ctr" defTabSz="914400">
              <a:lnSpc>
                <a:spcPct val="90000"/>
              </a:lnSpc>
              <a:buNone/>
              <a:tabLst>
                <a:tab pos="0" algn="l"/>
              </a:tabLst>
            </a:pPr>
            <a:r>
              <a:rPr lang="en-US" sz="4400" b="0" u="none" strike="noStrike">
                <a:solidFill>
                  <a:schemeClr val="dk1"/>
                </a:solidFill>
                <a:effectLst/>
                <a:uFillTx/>
                <a:latin typeface="Aptos Display"/>
              </a:rPr>
              <a:t>Let’s start with the very place we call HOME!!</a:t>
            </a:r>
            <a:br>
              <a:rPr sz="4400"/>
            </a:br>
            <a:br>
              <a:rPr sz="4400"/>
            </a:br>
            <a:r>
              <a:rPr lang="en-US" sz="4400" b="0" u="none" strike="noStrike">
                <a:solidFill>
                  <a:schemeClr val="dk1"/>
                </a:solidFill>
                <a:effectLst/>
                <a:uFillTx/>
                <a:latin typeface="Aptos Display"/>
              </a:rPr>
              <a:t>The EARTH</a:t>
            </a:r>
            <a:endParaRPr lang="en-GB" sz="4400" b="0" u="none" strike="noStrike">
              <a:solidFill>
                <a:schemeClr val="dk1"/>
              </a:solidFill>
              <a:effectLst/>
              <a:uFillTx/>
              <a:latin typeface="Aptos Display"/>
            </a:endParaRPr>
          </a:p>
        </p:txBody>
      </p:sp>
      <p:sp>
        <p:nvSpPr>
          <p:cNvPr id="63" name="PlaceHolder 2"/>
          <p:cNvSpPr>
            <a:spLocks noGrp="1"/>
          </p:cNvSpPr>
          <p:nvPr>
            <p:ph/>
          </p:nvPr>
        </p:nvSpPr>
        <p:spPr>
          <a:xfrm>
            <a:off x="3305520" y="3429000"/>
            <a:ext cx="5580360" cy="103788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What is a longitude and a latitude </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What is the radius of Earth?</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IN" sz="4400" b="0" u="none" strike="noStrike">
                <a:solidFill>
                  <a:schemeClr val="dk1"/>
                </a:solidFill>
                <a:effectLst/>
                <a:uFillTx/>
                <a:latin typeface="Aptos Display"/>
              </a:rPr>
              <a:t>The Earthly Grid: Latitude &amp; Longitude</a:t>
            </a:r>
            <a:endParaRPr lang="en-GB" sz="4400" b="0" u="none" strike="noStrike">
              <a:solidFill>
                <a:schemeClr val="dk1"/>
              </a:solidFill>
              <a:effectLst/>
              <a:uFillTx/>
              <a:latin typeface="Aptos Display"/>
            </a:endParaRPr>
          </a:p>
        </p:txBody>
      </p:sp>
      <p:sp>
        <p:nvSpPr>
          <p:cNvPr id="65" name="PlaceHolder 2"/>
          <p:cNvSpPr>
            <a:spLocks noGrp="1"/>
          </p:cNvSpPr>
          <p:nvPr>
            <p:ph/>
          </p:nvPr>
        </p:nvSpPr>
        <p:spPr>
          <a:xfrm>
            <a:off x="578520" y="2028960"/>
            <a:ext cx="5257080" cy="4350600"/>
          </a:xfrm>
          <a:prstGeom prst="rect">
            <a:avLst/>
          </a:prstGeom>
          <a:noFill/>
          <a:ln w="0">
            <a:noFill/>
          </a:ln>
        </p:spPr>
        <p:txBody>
          <a:bodyPr lIns="91440" tIns="45720" rIns="91440" bIns="45720" anchor="t">
            <a:normAutofit fontScale="62500" lnSpcReduction="19999"/>
          </a:bodyPr>
          <a:p>
            <a:pPr indent="0" algn="l" defTabSz="914400">
              <a:lnSpc>
                <a:spcPct val="90000"/>
              </a:lnSpc>
              <a:spcBef>
                <a:spcPts val="1001"/>
              </a:spcBef>
              <a:buNone/>
              <a:tabLst>
                <a:tab pos="0" algn="l"/>
              </a:tabLst>
            </a:pPr>
            <a:r>
              <a:rPr lang="en-IN" sz="2800" b="1" u="none" strike="noStrike">
                <a:solidFill>
                  <a:schemeClr val="dk1"/>
                </a:solidFill>
                <a:effectLst/>
                <a:uFillTx/>
                <a:latin typeface="Aptos"/>
              </a:rPr>
              <a:t>Latitude (The Rings):</a:t>
            </a:r>
            <a:r>
              <a:rPr lang="en-IN" sz="2800" b="0" u="none" strike="noStrike">
                <a:solidFill>
                  <a:schemeClr val="dk1"/>
                </a:solidFill>
                <a:effectLst/>
                <a:uFillTx/>
                <a:latin typeface="Aptos"/>
              </a:rPr>
              <a:t> Measures North and South.</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The </a:t>
            </a:r>
            <a:r>
              <a:rPr lang="en-IN" sz="2800" b="1" u="none" strike="noStrike">
                <a:solidFill>
                  <a:schemeClr val="dk1"/>
                </a:solidFill>
                <a:effectLst/>
                <a:uFillTx/>
                <a:latin typeface="Aptos"/>
              </a:rPr>
              <a:t>Equator</a:t>
            </a:r>
            <a:r>
              <a:rPr lang="en-IN" sz="2800" b="0" u="none" strike="noStrike">
                <a:solidFill>
                  <a:schemeClr val="dk1"/>
                </a:solidFill>
                <a:effectLst/>
                <a:uFillTx/>
                <a:latin typeface="Aptos"/>
              </a:rPr>
              <a:t> is 0°, acting as the natural midpoint.</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The Poles are exactly 90° North and South.</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i="1" u="none" strike="noStrike">
                <a:solidFill>
                  <a:schemeClr val="dk1"/>
                </a:solidFill>
                <a:effectLst/>
                <a:uFillTx/>
                <a:latin typeface="Aptos"/>
              </a:rPr>
              <a:t>Trick to remember:</a:t>
            </a:r>
            <a:r>
              <a:rPr lang="en-IN" sz="2800" b="0" u="none" strike="noStrike">
                <a:solidFill>
                  <a:schemeClr val="dk1"/>
                </a:solidFill>
                <a:effectLst/>
                <a:uFillTx/>
                <a:latin typeface="Aptos"/>
              </a:rPr>
              <a:t> Lines of latitude are parallel (like a ladder).</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IN" sz="2800" b="1" u="none" strike="noStrike">
                <a:solidFill>
                  <a:schemeClr val="dk1"/>
                </a:solidFill>
                <a:effectLst/>
                <a:uFillTx/>
                <a:latin typeface="Aptos"/>
              </a:rPr>
              <a:t>Longitude (The Slices):</a:t>
            </a:r>
            <a:r>
              <a:rPr lang="en-IN" sz="2800" b="0" u="none" strike="noStrike">
                <a:solidFill>
                  <a:schemeClr val="dk1"/>
                </a:solidFill>
                <a:effectLst/>
                <a:uFillTx/>
                <a:latin typeface="Aptos"/>
              </a:rPr>
              <a:t> Measures East and West.</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The </a:t>
            </a:r>
            <a:r>
              <a:rPr lang="en-IN" sz="2800" b="1" u="none" strike="noStrike">
                <a:solidFill>
                  <a:schemeClr val="dk1"/>
                </a:solidFill>
                <a:effectLst/>
                <a:uFillTx/>
                <a:latin typeface="Aptos"/>
              </a:rPr>
              <a:t>Prime Meridian</a:t>
            </a:r>
            <a:r>
              <a:rPr lang="en-IN" sz="2800" b="0" u="none" strike="noStrike">
                <a:solidFill>
                  <a:schemeClr val="dk1"/>
                </a:solidFill>
                <a:effectLst/>
                <a:uFillTx/>
                <a:latin typeface="Aptos"/>
              </a:rPr>
              <a:t> (Greenwich, UK) is 0°. This is an arbitrary, human-made starting line.</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Lines meet at the poles, dividing the Earth into 360 vertical slices.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66" name="Picture 2" descr="GSP 270: Latitude and Longitude"/>
          <p:cNvPicPr/>
          <p:nvPr/>
        </p:nvPicPr>
        <p:blipFill>
          <a:blip r:embed="rId1"/>
          <a:stretch/>
        </p:blipFill>
        <p:spPr>
          <a:xfrm>
            <a:off x="6402240" y="1690560"/>
            <a:ext cx="4950720" cy="44679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758160" y="2297880"/>
            <a:ext cx="10674720" cy="2261520"/>
          </a:xfrm>
          <a:prstGeom prst="rect">
            <a:avLst/>
          </a:prstGeom>
          <a:noFill/>
          <a:ln w="0">
            <a:noFill/>
          </a:ln>
        </p:spPr>
        <p:txBody>
          <a:bodyPr lIns="91440" tIns="45720" rIns="91440" bIns="45720" anchor="ctr">
            <a:normAutofit fontScale="92500" lnSpcReduction="9999"/>
          </a:bodyPr>
          <a:p>
            <a:pPr indent="0" algn="ctr" defTabSz="914400">
              <a:lnSpc>
                <a:spcPct val="90000"/>
              </a:lnSpc>
              <a:buNone/>
              <a:tabLst>
                <a:tab pos="0" algn="l"/>
              </a:tabLst>
            </a:pPr>
            <a:r>
              <a:rPr lang="en-US" sz="4400" b="0" u="none" strike="noStrike">
                <a:solidFill>
                  <a:schemeClr val="dk1"/>
                </a:solidFill>
                <a:effectLst/>
                <a:uFillTx/>
                <a:latin typeface="Aptos Display"/>
              </a:rPr>
              <a:t>Story Time!! </a:t>
            </a:r>
            <a:br>
              <a:rPr sz="4400"/>
            </a:br>
            <a:br>
              <a:rPr sz="4400"/>
            </a:br>
            <a:r>
              <a:rPr lang="en-US" sz="4400" b="0" u="none" strike="noStrike">
                <a:solidFill>
                  <a:schemeClr val="dk1"/>
                </a:solidFill>
                <a:effectLst/>
                <a:uFillTx/>
                <a:latin typeface="Aptos Display"/>
              </a:rPr>
              <a:t>About how humans found the radius of Earth </a:t>
            </a:r>
            <a:endParaRPr lang="en-GB" sz="4400" b="0" u="none" strike="noStrike">
              <a:solidFill>
                <a:schemeClr val="dk1"/>
              </a:solidFill>
              <a:effectLst/>
              <a:uFillTx/>
              <a:latin typeface="Aptos Display"/>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68" name="Rectangle 3078">
            <a:extLst>
              <a:ext uri="{C183D7F6-B498-43B3-948B-1728B52AA6E4}">
                <adec:decorative xmlns:adec="http://schemas.microsoft.com/office/drawing/2017/decorative" val="1"/>
              </a:ext>
            </a:extLst>
          </p:cNvPr>
          <p:cNvSpPr/>
          <p:nvPr/>
        </p:nvSpPr>
        <p:spPr>
          <a:xfrm>
            <a:off x="0" y="0"/>
            <a:ext cx="1218816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69" name="PlaceHolder 1"/>
          <p:cNvSpPr>
            <a:spLocks noGrp="1"/>
          </p:cNvSpPr>
          <p:nvPr>
            <p:ph type="title"/>
          </p:nvPr>
        </p:nvSpPr>
        <p:spPr>
          <a:xfrm>
            <a:off x="836640" y="261000"/>
            <a:ext cx="6001560" cy="1126800"/>
          </a:xfrm>
          <a:prstGeom prst="rect">
            <a:avLst/>
          </a:prstGeom>
          <a:noFill/>
          <a:ln w="0">
            <a:noFill/>
          </a:ln>
        </p:spPr>
        <p:txBody>
          <a:bodyPr lIns="91440" tIns="45720" rIns="91440" bIns="45720" anchor="ctr">
            <a:normAutofit lnSpcReduction="9999"/>
          </a:bodyPr>
          <a:p>
            <a:pPr indent="0" algn="l" defTabSz="914400">
              <a:lnSpc>
                <a:spcPct val="90000"/>
              </a:lnSpc>
              <a:buNone/>
              <a:tabLst>
                <a:tab pos="0" algn="l"/>
              </a:tabLst>
            </a:pPr>
            <a:r>
              <a:rPr lang="en-US" sz="4000" b="0" u="none" strike="noStrike">
                <a:solidFill>
                  <a:schemeClr val="dk1"/>
                </a:solidFill>
                <a:effectLst/>
                <a:uFillTx/>
                <a:latin typeface="Aptos Display"/>
              </a:rPr>
              <a:t>From Aesthetics to Evidence</a:t>
            </a:r>
            <a:endParaRPr lang="en-GB" sz="4000" b="0" u="none" strike="noStrike">
              <a:solidFill>
                <a:schemeClr val="dk1"/>
              </a:solidFill>
              <a:effectLst/>
              <a:uFillTx/>
              <a:latin typeface="Aptos Display"/>
            </a:endParaRPr>
          </a:p>
        </p:txBody>
      </p:sp>
      <p:sp>
        <p:nvSpPr>
          <p:cNvPr id="70" name="PlaceHolder 2"/>
          <p:cNvSpPr>
            <a:spLocks noGrp="1"/>
          </p:cNvSpPr>
          <p:nvPr>
            <p:ph/>
          </p:nvPr>
        </p:nvSpPr>
        <p:spPr>
          <a:xfrm>
            <a:off x="823680" y="1828800"/>
            <a:ext cx="6001560" cy="225972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US" sz="2000" b="0" u="none" strike="noStrike">
                <a:solidFill>
                  <a:schemeClr val="dk1"/>
                </a:solidFill>
                <a:effectLst/>
                <a:uFillTx/>
                <a:latin typeface="Aptos"/>
              </a:rPr>
              <a:t>Ships disappear hull-first over the horizon.</a:t>
            </a:r>
            <a:endParaRPr lang="en-GB"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ptos"/>
              </a:rPr>
              <a:t>Earth casts a round shadow during a lunar eclipse.</a:t>
            </a:r>
            <a:endParaRPr lang="en-GB"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000" b="0" u="none" strike="noStrike">
              <a:solidFill>
                <a:schemeClr val="dk1"/>
              </a:solidFill>
              <a:effectLst/>
              <a:uFillTx/>
              <a:latin typeface="Aptos"/>
            </a:endParaRPr>
          </a:p>
        </p:txBody>
      </p:sp>
      <p:pic>
        <p:nvPicPr>
          <p:cNvPr id="71" name="Picture 2" descr="Aristotle, Ancient Greek philosopher ..."/>
          <p:cNvPicPr/>
          <p:nvPr/>
        </p:nvPicPr>
        <p:blipFill>
          <a:blip r:embed="rId1"/>
          <a:srcRect l="0" t="0" r="0" b="4514"/>
          <a:stretch/>
        </p:blipFill>
        <p:spPr>
          <a:xfrm>
            <a:off x="8218440" y="261000"/>
            <a:ext cx="3013560" cy="4139640"/>
          </a:xfrm>
          <a:prstGeom prst="rect">
            <a:avLst/>
          </a:prstGeom>
          <a:noFill/>
          <a:ln w="0">
            <a:noFill/>
          </a:ln>
        </p:spPr>
      </p:pic>
      <p:sp>
        <p:nvSpPr>
          <p:cNvPr id="72" name="TextBox 3"/>
          <p:cNvSpPr/>
          <p:nvPr/>
        </p:nvSpPr>
        <p:spPr>
          <a:xfrm>
            <a:off x="8218440" y="4820400"/>
            <a:ext cx="3013560" cy="1199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IN" sz="1800" b="0" u="none" strike="noStrike">
                <a:solidFill>
                  <a:schemeClr val="dk1"/>
                </a:solidFill>
                <a:effectLst/>
                <a:uFillTx/>
                <a:latin typeface="Aptos"/>
              </a:rPr>
              <a:t>Pythagoras first proposed a round Earth simply because spheres were "aesthetically perfect."</a:t>
            </a:r>
            <a:endParaRPr lang="en-US" sz="1800" b="0" u="none" strike="noStrike">
              <a:solidFill>
                <a:srgbClr val="000000"/>
              </a:solidFill>
              <a:effectLst/>
              <a:uFillTx/>
              <a:latin typeface="Arial"/>
            </a:endParaRPr>
          </a:p>
        </p:txBody>
      </p:sp>
      <p:pic>
        <p:nvPicPr>
          <p:cNvPr id="73" name="Picture 4" descr="Halfway into the Earth's shadow.:September 28, 2007 at ~2:20 a.m ~  --Richard Berry : r/Astronomy"/>
          <p:cNvPicPr/>
          <p:nvPr/>
        </p:nvPicPr>
        <p:blipFill>
          <a:blip r:embed="rId2"/>
          <a:stretch/>
        </p:blipFill>
        <p:spPr>
          <a:xfrm>
            <a:off x="823680" y="4463280"/>
            <a:ext cx="3013560" cy="22597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Eratosthenes of Cyrene (240 B.C.)</a:t>
            </a:r>
            <a:endParaRPr lang="en-GB" sz="4400" b="0" u="none" strike="noStrike">
              <a:solidFill>
                <a:schemeClr val="dk1"/>
              </a:solidFill>
              <a:effectLst/>
              <a:uFillTx/>
              <a:latin typeface="Aptos Display"/>
            </a:endParaRPr>
          </a:p>
        </p:txBody>
      </p:sp>
      <p:sp>
        <p:nvSpPr>
          <p:cNvPr id="75" name="PlaceHolder 2"/>
          <p:cNvSpPr>
            <a:spLocks noGrp="1"/>
          </p:cNvSpPr>
          <p:nvPr>
            <p:ph/>
          </p:nvPr>
        </p:nvSpPr>
        <p:spPr>
          <a:xfrm>
            <a:off x="654840" y="2054520"/>
            <a:ext cx="11265480" cy="42796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IN" sz="2800" b="0" u="none" strike="noStrike">
                <a:solidFill>
                  <a:schemeClr val="dk1"/>
                </a:solidFill>
                <a:effectLst/>
                <a:uFillTx/>
                <a:latin typeface="Aptos"/>
              </a:rPr>
              <a:t>Chief Librarian of Alexandria, a master of geography.</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IN" sz="2800" b="0" u="none" strike="noStrike">
                <a:solidFill>
                  <a:schemeClr val="dk1"/>
                </a:solidFill>
                <a:effectLst/>
                <a:uFillTx/>
                <a:latin typeface="Aptos"/>
              </a:rPr>
              <a:t>Travelers reported a strange phenomenon in the southern city of Syene (modern-day Aswan).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IN" sz="2800" b="0" u="none" strike="noStrike">
                <a:solidFill>
                  <a:schemeClr val="dk1"/>
                </a:solidFill>
                <a:effectLst/>
                <a:uFillTx/>
                <a:latin typeface="Aptos"/>
              </a:rPr>
              <a:t>At exactly noon on the Summer Solstice, the sun illuminated the very bottom of a deep well. A vertical stick cast </a:t>
            </a:r>
            <a:r>
              <a:rPr lang="en-IN" sz="2800" b="1" u="none" strike="noStrike">
                <a:solidFill>
                  <a:schemeClr val="dk1"/>
                </a:solidFill>
                <a:effectLst/>
                <a:uFillTx/>
                <a:latin typeface="Aptos"/>
              </a:rPr>
              <a:t>zero shadow</a:t>
            </a:r>
            <a:r>
              <a:rPr lang="en-IN" sz="2800" b="0" u="none" strike="noStrike">
                <a:solidFill>
                  <a:schemeClr val="dk1"/>
                </a:solidFill>
                <a:effectLst/>
                <a:uFillTx/>
                <a:latin typeface="Aptos"/>
              </a:rPr>
              <a:t>. The sun was perfectly overhead.</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914760" y="464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Experiment</a:t>
            </a:r>
            <a:endParaRPr lang="en-GB" sz="4400" b="0" u="none" strike="noStrike">
              <a:solidFill>
                <a:schemeClr val="dk1"/>
              </a:solidFill>
              <a:effectLst/>
              <a:uFillTx/>
              <a:latin typeface="Aptos Display"/>
            </a:endParaRPr>
          </a:p>
        </p:txBody>
      </p:sp>
      <p:pic>
        <p:nvPicPr>
          <p:cNvPr id="77" name="Picture 2" descr="Eratosthenes | Biography, Discoveries, Sieve, &amp; Facts | Britannica"/>
          <p:cNvPicPr/>
          <p:nvPr/>
        </p:nvPicPr>
        <p:blipFill>
          <a:blip r:embed="rId1"/>
          <a:stretch/>
        </p:blipFill>
        <p:spPr>
          <a:xfrm>
            <a:off x="5963760" y="2082600"/>
            <a:ext cx="5659560" cy="4350600"/>
          </a:xfrm>
          <a:prstGeom prst="rect">
            <a:avLst/>
          </a:prstGeom>
          <a:noFill/>
          <a:ln w="0">
            <a:noFill/>
          </a:ln>
        </p:spPr>
      </p:pic>
      <p:sp>
        <p:nvSpPr>
          <p:cNvPr id="78" name="TextBox 4"/>
          <p:cNvSpPr/>
          <p:nvPr/>
        </p:nvSpPr>
        <p:spPr>
          <a:xfrm>
            <a:off x="237240" y="1230480"/>
            <a:ext cx="5282640" cy="5169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IN" sz="2400" b="0" u="none" strike="noStrike">
                <a:solidFill>
                  <a:schemeClr val="dk1"/>
                </a:solidFill>
                <a:effectLst/>
                <a:uFillTx/>
                <a:latin typeface="Aptos"/>
              </a:rPr>
              <a:t>The sun is so far away that its incoming rays are essentially parallel.</a:t>
            </a:r>
            <a:endParaRPr lang="en-US" sz="2400" b="0" u="none" strike="noStrike">
              <a:solidFill>
                <a:srgbClr val="000000"/>
              </a:solidFill>
              <a:effectLst/>
              <a:uFillTx/>
              <a:latin typeface="Arial"/>
            </a:endParaRPr>
          </a:p>
          <a:p>
            <a:pPr defTabSz="914400">
              <a:lnSpc>
                <a:spcPct val="100000"/>
              </a:lnSpc>
            </a:pPr>
            <a:endParaRPr lang="en-US"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Eratosthenes placed a vertical stick in Alexandria on the exact same day and time.</a:t>
            </a:r>
            <a:endParaRPr lang="en-US" sz="2400" b="0" u="none" strike="noStrike">
              <a:solidFill>
                <a:srgbClr val="000000"/>
              </a:solidFill>
              <a:effectLst/>
              <a:uFillTx/>
              <a:latin typeface="Arial"/>
            </a:endParaRPr>
          </a:p>
          <a:p>
            <a:pPr defTabSz="914400">
              <a:lnSpc>
                <a:spcPct val="100000"/>
              </a:lnSpc>
            </a:pPr>
            <a:endParaRPr lang="en-US"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The stick in Alexandria </a:t>
            </a:r>
            <a:r>
              <a:rPr lang="en-IN" sz="2400" b="0" i="1" u="none" strike="noStrike">
                <a:solidFill>
                  <a:schemeClr val="dk1"/>
                </a:solidFill>
                <a:effectLst/>
                <a:uFillTx/>
                <a:latin typeface="Aptos"/>
              </a:rPr>
              <a:t>did</a:t>
            </a:r>
            <a:r>
              <a:rPr lang="en-IN" sz="2400" b="0" u="none" strike="noStrike">
                <a:solidFill>
                  <a:schemeClr val="dk1"/>
                </a:solidFill>
                <a:effectLst/>
                <a:uFillTx/>
                <a:latin typeface="Aptos"/>
              </a:rPr>
              <a:t> cast a shadow.</a:t>
            </a:r>
            <a:endParaRPr lang="en-US" sz="2400" b="0" u="none" strike="noStrike">
              <a:solidFill>
                <a:srgbClr val="000000"/>
              </a:solidFill>
              <a:effectLst/>
              <a:uFillTx/>
              <a:latin typeface="Arial"/>
            </a:endParaRPr>
          </a:p>
          <a:p>
            <a:pPr defTabSz="914400">
              <a:lnSpc>
                <a:spcPct val="100000"/>
              </a:lnSpc>
            </a:pPr>
            <a:endParaRPr lang="en-US"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The shadow formed an angle of </a:t>
            </a:r>
            <a:r>
              <a:rPr lang="en-IN" sz="2400" b="1" u="none" strike="noStrike">
                <a:solidFill>
                  <a:schemeClr val="dk1"/>
                </a:solidFill>
                <a:effectLst/>
                <a:uFillTx/>
                <a:latin typeface="Aptos"/>
              </a:rPr>
              <a:t>7.2 degree</a:t>
            </a:r>
            <a:endParaRPr lang="en-US"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exactly </a:t>
            </a:r>
            <a:r>
              <a:rPr lang="en-IN" sz="2400" b="1" u="none" strike="noStrike">
                <a:solidFill>
                  <a:schemeClr val="dk1"/>
                </a:solidFill>
                <a:effectLst/>
                <a:uFillTx/>
                <a:latin typeface="Aptos"/>
              </a:rPr>
              <a:t>1/50th</a:t>
            </a:r>
            <a:r>
              <a:rPr lang="en-IN" sz="2400" b="0" u="none" strike="noStrike">
                <a:solidFill>
                  <a:schemeClr val="dk1"/>
                </a:solidFill>
                <a:effectLst/>
                <a:uFillTx/>
                <a:latin typeface="Aptos"/>
              </a:rPr>
              <a:t> of a 360-degree circle</a:t>
            </a:r>
            <a:endParaRPr lang="en-US" sz="24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Execution – Walking the Distance</a:t>
            </a:r>
            <a:endParaRPr lang="en-GB" sz="4400" b="0" u="none" strike="noStrike">
              <a:solidFill>
                <a:schemeClr val="dk1"/>
              </a:solidFill>
              <a:effectLst/>
              <a:uFillTx/>
              <a:latin typeface="Aptos Display"/>
            </a:endParaRPr>
          </a:p>
        </p:txBody>
      </p:sp>
      <p:sp>
        <p:nvSpPr>
          <p:cNvPr id="80" name="PlaceHolder 2"/>
          <p:cNvSpPr>
            <a:spLocks noGrp="1"/>
          </p:cNvSpPr>
          <p:nvPr>
            <p:ph/>
          </p:nvPr>
        </p:nvSpPr>
        <p:spPr>
          <a:xfrm>
            <a:off x="271080" y="2066040"/>
            <a:ext cx="11739600" cy="421200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IN" sz="2800" b="0" u="none" strike="noStrike">
                <a:solidFill>
                  <a:schemeClr val="dk1"/>
                </a:solidFill>
                <a:effectLst/>
                <a:uFillTx/>
                <a:latin typeface="Aptos"/>
              </a:rPr>
              <a:t>To solve the equation, he just needed the exact distance between Alexandria and Syene.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IN" sz="2800" b="0" u="none" strike="noStrike">
                <a:solidFill>
                  <a:schemeClr val="dk1"/>
                </a:solidFill>
                <a:effectLst/>
                <a:uFillTx/>
                <a:latin typeface="Aptos"/>
              </a:rPr>
              <a:t>He hired </a:t>
            </a:r>
            <a:r>
              <a:rPr lang="en-IN" sz="2800" b="1" u="none" strike="noStrike">
                <a:solidFill>
                  <a:schemeClr val="dk1"/>
                </a:solidFill>
                <a:effectLst/>
                <a:uFillTx/>
                <a:latin typeface="Aptos"/>
              </a:rPr>
              <a:t>bematists, </a:t>
            </a:r>
            <a:r>
              <a:rPr lang="en-IN" sz="2800" b="0" u="none" strike="noStrike">
                <a:solidFill>
                  <a:schemeClr val="dk1"/>
                </a:solidFill>
                <a:effectLst/>
                <a:uFillTx/>
                <a:latin typeface="Aptos"/>
              </a:rPr>
              <a:t>highly trained surveyors who marched with perfectly equal-length steps.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IN" sz="2800" b="0" u="none" strike="noStrike">
                <a:solidFill>
                  <a:schemeClr val="dk1"/>
                </a:solidFill>
                <a:effectLst/>
                <a:uFillTx/>
                <a:latin typeface="Aptos"/>
              </a:rPr>
              <a:t>They measured the journey at </a:t>
            </a:r>
            <a:r>
              <a:rPr lang="en-IN" sz="2800" b="1" u="none" strike="noStrike">
                <a:solidFill>
                  <a:schemeClr val="dk1"/>
                </a:solidFill>
                <a:effectLst/>
                <a:uFillTx/>
                <a:latin typeface="Aptos"/>
              </a:rPr>
              <a:t>5,000 stadia</a:t>
            </a: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Calculation</a:t>
            </a:r>
            <a:endParaRPr lang="en-GB" sz="4400" b="0" u="none" strike="noStrike">
              <a:solidFill>
                <a:schemeClr val="dk1"/>
              </a:solidFill>
              <a:effectLst/>
              <a:uFillTx/>
              <a:latin typeface="Aptos Display"/>
            </a:endParaRPr>
          </a:p>
        </p:txBody>
      </p:sp>
      <p:pic>
        <p:nvPicPr>
          <p:cNvPr id="82" name="Picture 2" descr="Arcs &amp; Sectors | Geometry"/>
          <p:cNvPicPr/>
          <p:nvPr/>
        </p:nvPicPr>
        <p:blipFill>
          <a:blip r:embed="rId1"/>
          <a:stretch/>
        </p:blipFill>
        <p:spPr>
          <a:xfrm>
            <a:off x="5666400" y="1870560"/>
            <a:ext cx="6039360" cy="3116160"/>
          </a:xfrm>
          <a:prstGeom prst="rect">
            <a:avLst/>
          </a:prstGeom>
          <a:noFill/>
          <a:ln w="0">
            <a:noFill/>
          </a:ln>
        </p:spPr>
      </p:pic>
      <p:sp>
        <p:nvSpPr>
          <p:cNvPr id="83" name="TextBox 3"/>
          <p:cNvSpPr/>
          <p:nvPr/>
        </p:nvSpPr>
        <p:spPr>
          <a:xfrm>
            <a:off x="101520" y="2028600"/>
            <a:ext cx="5277960" cy="3706200"/>
          </a:xfrm>
          <a:prstGeom prst="rect">
            <a:avLst/>
          </a:prstGeom>
          <a:blipFill rotWithShape="0">
            <a:blip r:embed="rId2"/>
            <a:srcRect/>
            <a:stretch/>
          </a:blipFill>
          <a:ln w="0">
            <a:noFill/>
          </a:ln>
        </p:spPr>
        <p:style>
          <a:lnRef idx="0"/>
          <a:fillRef idx="0"/>
          <a:effectRef idx="0"/>
          <a:fontRef idx="minor"/>
        </p:style>
        <p:txBody>
          <a:bodyPr lIns="90000" tIns="45000" rIns="90000" bIns="45000" anchor="t">
            <a:noAutofit/>
          </a:bodyPr>
          <a:p>
            <a:pPr defTabSz="914400">
              <a:lnSpc>
                <a:spcPct val="100000"/>
              </a:lnSpc>
            </a:pPr>
            <a:r>
              <a:rPr lang="en-US" sz="1800" b="0" u="none" strike="noStrike">
                <a:solidFill>
                  <a:srgbClr val="FFFFFF">
                    <a:alpha val="1000"/>
                  </a:srgbClr>
                </a:solidFill>
                <a:effectLst/>
                <a:uFillTx/>
                <a:latin typeface="Aptos"/>
              </a:rPr>
              <a:t> </a:t>
            </a:r>
            <a:endParaRPr lang="en-US" sz="1800" b="0" u="none" strike="noStrike">
              <a:solidFill>
                <a:srgbClr val="000000"/>
              </a:solidFill>
              <a:effectLst/>
              <a:uFillTx/>
              <a:latin typeface="Arial"/>
            </a:endParaRPr>
          </a:p>
        </p:txBody>
      </p:sp>
      <p:sp>
        <p:nvSpPr>
          <p:cNvPr id="84" name="TextBox 4"/>
          <p:cNvSpPr/>
          <p:nvPr/>
        </p:nvSpPr>
        <p:spPr>
          <a:xfrm>
            <a:off x="101520" y="5784840"/>
            <a:ext cx="6298560" cy="707040"/>
          </a:xfrm>
          <a:prstGeom prst="rect">
            <a:avLst/>
          </a:prstGeom>
          <a:blipFill rotWithShape="0">
            <a:blip r:embed="rId3"/>
            <a:srcRect/>
            <a:stretch/>
          </a:blipFill>
          <a:ln w="0">
            <a:noFill/>
          </a:ln>
        </p:spPr>
        <p:style>
          <a:lnRef idx="0"/>
          <a:fillRef idx="0"/>
          <a:effectRef idx="0"/>
          <a:fontRef idx="minor"/>
        </p:style>
        <p:txBody>
          <a:bodyPr lIns="90000" tIns="45000" rIns="90000" bIns="45000" anchor="t">
            <a:noAutofit/>
          </a:bodyPr>
          <a:p>
            <a:pPr defTabSz="914400">
              <a:lnSpc>
                <a:spcPct val="100000"/>
              </a:lnSpc>
            </a:pPr>
            <a:r>
              <a:rPr lang="en-US" sz="1800" b="0" u="none" strike="noStrike">
                <a:solidFill>
                  <a:srgbClr val="FFFFFF">
                    <a:alpha val="1000"/>
                  </a:srgbClr>
                </a:solidFill>
                <a:effectLst/>
                <a:uFillTx/>
                <a:latin typeface="Aptos"/>
              </a:rPr>
              <a:t>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368280" y="2516040"/>
            <a:ext cx="11454840" cy="1824840"/>
          </a:xfrm>
          <a:prstGeom prst="rect">
            <a:avLst/>
          </a:prstGeom>
          <a:noFill/>
          <a:ln w="0">
            <a:noFill/>
          </a:ln>
        </p:spPr>
        <p:txBody>
          <a:bodyPr lIns="91440" tIns="45720" rIns="91440" bIns="45720" anchor="ctr">
            <a:normAutofit fontScale="85000" lnSpcReduction="9999"/>
          </a:bodyPr>
          <a:p>
            <a:pPr indent="0" algn="ctr" defTabSz="914400">
              <a:lnSpc>
                <a:spcPct val="90000"/>
              </a:lnSpc>
              <a:buNone/>
              <a:tabLst>
                <a:tab pos="0" algn="l"/>
              </a:tabLst>
            </a:pPr>
            <a:r>
              <a:rPr lang="en-US" sz="4400" b="0" u="none" strike="noStrike">
                <a:solidFill>
                  <a:schemeClr val="dk1"/>
                </a:solidFill>
                <a:effectLst/>
                <a:uFillTx/>
                <a:latin typeface="Aptos Display"/>
              </a:rPr>
              <a:t>Let’s about the nearest neighbor celestial object</a:t>
            </a:r>
            <a:br>
              <a:rPr sz="4400"/>
            </a:br>
            <a:br>
              <a:rPr sz="4400"/>
            </a:br>
            <a:r>
              <a:rPr lang="en-US" sz="4400" b="0" u="none" strike="noStrike">
                <a:solidFill>
                  <a:schemeClr val="dk1"/>
                </a:solidFill>
                <a:effectLst/>
                <a:uFillTx/>
                <a:latin typeface="Aptos Display"/>
              </a:rPr>
              <a:t>The Moon!!! </a:t>
            </a:r>
            <a:endParaRPr lang="en-GB" sz="4400" b="0" u="none" strike="noStrike">
              <a:solidFill>
                <a:schemeClr val="dk1"/>
              </a:solidFill>
              <a:effectLst/>
              <a:uFillTx/>
              <a:latin typeface="Aptos Display"/>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Phases of Moon!!!</a:t>
            </a:r>
            <a:endParaRPr lang="en-GB" sz="4400" b="0" u="none" strike="noStrike">
              <a:solidFill>
                <a:schemeClr val="dk1"/>
              </a:solidFill>
              <a:effectLst/>
              <a:uFillTx/>
              <a:latin typeface="Aptos Display"/>
            </a:endParaRPr>
          </a:p>
        </p:txBody>
      </p:sp>
      <p:pic>
        <p:nvPicPr>
          <p:cNvPr id="87" name="Picture 4" descr="Background 2/6 - Lunar Phases - NAAP"/>
          <p:cNvPicPr/>
          <p:nvPr/>
        </p:nvPicPr>
        <p:blipFill>
          <a:blip r:embed="rId1"/>
          <a:stretch/>
        </p:blipFill>
        <p:spPr>
          <a:xfrm>
            <a:off x="1519560" y="1690560"/>
            <a:ext cx="9151920" cy="48006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0"/>
            <a:ext cx="10514880" cy="77472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Solar vs. Lunar Eclipses</a:t>
            </a:r>
            <a:endParaRPr lang="en-GB" sz="4400" b="0" u="none" strike="noStrike">
              <a:solidFill>
                <a:schemeClr val="dk1"/>
              </a:solidFill>
              <a:effectLst/>
              <a:uFillTx/>
              <a:latin typeface="Aptos Display"/>
            </a:endParaRPr>
          </a:p>
        </p:txBody>
      </p:sp>
      <p:sp>
        <p:nvSpPr>
          <p:cNvPr id="89" name="PlaceHolder 2"/>
          <p:cNvSpPr>
            <a:spLocks noGrp="1"/>
          </p:cNvSpPr>
          <p:nvPr>
            <p:ph/>
          </p:nvPr>
        </p:nvSpPr>
        <p:spPr>
          <a:xfrm>
            <a:off x="149760" y="1045080"/>
            <a:ext cx="3661200" cy="563220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IN" sz="1600" b="0" u="none" strike="noStrike">
                <a:solidFill>
                  <a:schemeClr val="dk1"/>
                </a:solidFill>
                <a:effectLst/>
                <a:uFillTx/>
                <a:latin typeface="Aptos"/>
              </a:rPr>
              <a:t>An eclipse only happens when the Sun, Earth, and Moon form a perfectly straight line.</a:t>
            </a:r>
            <a:endParaRPr lang="en-GB" sz="16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16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1600" b="1" u="none" strike="noStrike">
                <a:solidFill>
                  <a:schemeClr val="dk1"/>
                </a:solidFill>
                <a:effectLst/>
                <a:uFillTx/>
                <a:latin typeface="Aptos"/>
              </a:rPr>
              <a:t>Lunar Eclipse (The Blood Moon):</a:t>
            </a:r>
            <a:r>
              <a:rPr lang="en-IN" sz="1600" b="0" u="none" strike="noStrike">
                <a:solidFill>
                  <a:schemeClr val="dk1"/>
                </a:solidFill>
                <a:effectLst/>
                <a:uFillTx/>
                <a:latin typeface="Aptos"/>
              </a:rPr>
              <a:t> Earth passes exactly between the Sun and the Moon.</a:t>
            </a:r>
            <a:endParaRPr lang="en-GB" sz="16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16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1600" b="1" u="none" strike="noStrike">
                <a:solidFill>
                  <a:schemeClr val="dk1"/>
                </a:solidFill>
                <a:effectLst/>
                <a:uFillTx/>
                <a:latin typeface="Aptos"/>
              </a:rPr>
              <a:t>Solar Eclipse (The Great Coincidence):</a:t>
            </a:r>
            <a:r>
              <a:rPr lang="en-IN" sz="1600" b="0" u="none" strike="noStrike">
                <a:solidFill>
                  <a:schemeClr val="dk1"/>
                </a:solidFill>
                <a:effectLst/>
                <a:uFillTx/>
                <a:latin typeface="Aptos"/>
              </a:rPr>
              <a:t> The Moon passes exactly between the Sun and the Earth.</a:t>
            </a:r>
            <a:endParaRPr lang="en-GB" sz="16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16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1600" b="1" u="none" strike="noStrike">
                <a:solidFill>
                  <a:schemeClr val="dk1"/>
                </a:solidFill>
                <a:effectLst/>
                <a:uFillTx/>
                <a:latin typeface="Aptos"/>
              </a:rPr>
              <a:t>Umbra vs. Penumbra:</a:t>
            </a:r>
            <a:r>
              <a:rPr lang="en-IN" sz="1600" b="0" u="none" strike="noStrike">
                <a:solidFill>
                  <a:schemeClr val="dk1"/>
                </a:solidFill>
                <a:effectLst/>
                <a:uFillTx/>
                <a:latin typeface="Aptos"/>
              </a:rPr>
              <a:t> * </a:t>
            </a:r>
            <a:r>
              <a:rPr lang="en-IN" sz="1600" b="1" u="none" strike="noStrike">
                <a:solidFill>
                  <a:schemeClr val="dk1"/>
                </a:solidFill>
                <a:effectLst/>
                <a:uFillTx/>
                <a:latin typeface="Aptos"/>
              </a:rPr>
              <a:t>Umbra:</a:t>
            </a:r>
            <a:r>
              <a:rPr lang="en-IN" sz="1600" b="0" u="none" strike="noStrike">
                <a:solidFill>
                  <a:schemeClr val="dk1"/>
                </a:solidFill>
                <a:effectLst/>
                <a:uFillTx/>
                <a:latin typeface="Aptos"/>
              </a:rPr>
              <a:t> The darkest, inner part of the shadow where the light source is completely blocked (Total Eclipse).</a:t>
            </a:r>
            <a:endParaRPr lang="en-GB" sz="16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16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1600" b="1" u="none" strike="noStrike">
                <a:solidFill>
                  <a:schemeClr val="dk1"/>
                </a:solidFill>
                <a:effectLst/>
                <a:uFillTx/>
                <a:latin typeface="Aptos"/>
              </a:rPr>
              <a:t>Penumbra:</a:t>
            </a:r>
            <a:r>
              <a:rPr lang="en-IN" sz="1600" b="0" u="none" strike="noStrike">
                <a:solidFill>
                  <a:schemeClr val="dk1"/>
                </a:solidFill>
                <a:effectLst/>
                <a:uFillTx/>
                <a:latin typeface="Aptos"/>
              </a:rPr>
              <a:t> The lighter, outer shadow where the light is only partially blocked (Partial Eclipse).</a:t>
            </a:r>
            <a:endParaRPr lang="en-GB" sz="16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1600" b="0" u="none" strike="noStrike">
              <a:solidFill>
                <a:schemeClr val="dk1"/>
              </a:solidFill>
              <a:effectLst/>
              <a:uFillTx/>
              <a:latin typeface="Aptos"/>
            </a:endParaRPr>
          </a:p>
        </p:txBody>
      </p:sp>
      <p:pic>
        <p:nvPicPr>
          <p:cNvPr id="90" name="Picture 4" descr="Solar Eclipse – Types of Solar Eclipse"/>
          <p:cNvPicPr/>
          <p:nvPr/>
        </p:nvPicPr>
        <p:blipFill>
          <a:blip r:embed="rId1"/>
          <a:stretch/>
        </p:blipFill>
        <p:spPr>
          <a:xfrm>
            <a:off x="4530600" y="1372320"/>
            <a:ext cx="7129800" cy="445572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p:cNvPicPr/>
          <p:nvPr/>
        </p:nvPicPr>
        <p:blipFill>
          <a:blip r:embed="rId1"/>
          <a:stretch/>
        </p:blipFill>
        <p:spPr>
          <a:xfrm>
            <a:off x="1371600" y="118800"/>
            <a:ext cx="9718200" cy="65102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Sizing the Moon (The Lunar Eclipse)(Look at 3b1b)</a:t>
            </a:r>
            <a:endParaRPr lang="en-GB" sz="4400" b="0" u="none" strike="noStrike">
              <a:solidFill>
                <a:schemeClr val="dk1"/>
              </a:solidFill>
              <a:effectLst/>
              <a:uFillTx/>
              <a:latin typeface="Aptos Display"/>
            </a:endParaRPr>
          </a:p>
        </p:txBody>
      </p:sp>
      <p:sp>
        <p:nvSpPr>
          <p:cNvPr id="93"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fontScale="92500" lnSpcReduction="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Aristarchus realized that a lunar eclipse is essentially the Earth projecting its own shadow onto the Moon.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The Observation:</a:t>
            </a:r>
            <a:r>
              <a:rPr lang="en-IN" sz="2800" b="0" u="none" strike="noStrike">
                <a:solidFill>
                  <a:schemeClr val="dk1"/>
                </a:solidFill>
                <a:effectLst/>
                <a:uFillTx/>
                <a:latin typeface="Aptos"/>
              </a:rPr>
              <a:t> By carefully watching the Moon pass through the deepest part of the shadow (the umbra), he compared the curve of the Earth's shadow to the curve of the Moon itself.</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He estimated that the Earth’s shadow was roughly </a:t>
            </a:r>
            <a:r>
              <a:rPr lang="en-IN" sz="2800" b="1" u="none" strike="noStrike">
                <a:solidFill>
                  <a:schemeClr val="dk1"/>
                </a:solidFill>
                <a:effectLst/>
                <a:uFillTx/>
                <a:latin typeface="Aptos"/>
              </a:rPr>
              <a:t>3 times wider</a:t>
            </a:r>
            <a:r>
              <a:rPr lang="en-IN" sz="2800" b="0" u="none" strike="noStrike">
                <a:solidFill>
                  <a:schemeClr val="dk1"/>
                </a:solidFill>
                <a:effectLst/>
                <a:uFillTx/>
                <a:latin typeface="Aptos"/>
              </a:rPr>
              <a:t> than the Moon. </a:t>
            </a:r>
            <a:r>
              <a:rPr lang="en-IN" sz="2800" b="0" i="1" u="none" strike="noStrike">
                <a:solidFill>
                  <a:schemeClr val="dk1"/>
                </a:solidFill>
                <a:effectLst/>
                <a:uFillTx/>
                <a:latin typeface="Aptos"/>
              </a:rPr>
              <a:t>(Modern measurements show it is closer to 2.7, but his geometry was brilliant).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49752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The Sun</a:t>
            </a:r>
            <a:endParaRPr lang="en-GB" sz="4400" b="0" u="none" strike="noStrike">
              <a:solidFill>
                <a:schemeClr val="dk1"/>
              </a:solidFill>
              <a:effectLst/>
              <a:uFillTx/>
              <a:latin typeface="Aptos Display"/>
            </a:endParaRPr>
          </a:p>
        </p:txBody>
      </p:sp>
      <p:sp>
        <p:nvSpPr>
          <p:cNvPr id="95" name="PlaceHolder 2"/>
          <p:cNvSpPr>
            <a:spLocks noGrp="1"/>
          </p:cNvSpPr>
          <p:nvPr>
            <p:ph/>
          </p:nvPr>
        </p:nvSpPr>
        <p:spPr>
          <a:xfrm>
            <a:off x="541440" y="2190600"/>
            <a:ext cx="11108520" cy="4301640"/>
          </a:xfrm>
          <a:prstGeom prst="rect">
            <a:avLst/>
          </a:prstGeom>
          <a:noFill/>
          <a:ln w="0">
            <a:noFill/>
          </a:ln>
        </p:spPr>
        <p:txBody>
          <a:bodyPr lIns="91440" tIns="45720" rIns="91440" bIns="45720" anchor="t">
            <a:normAutofit fontScale="92500" lnSpcReduction="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Thanks to Aristarchus, we knew the Moon's distance. But his math for the Sun was off by a factor of 20, making the Sun seem way too close and way too small.</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The Copernican Revolution (1543):</a:t>
            </a:r>
            <a:r>
              <a:rPr lang="en-IN" sz="2800" b="0" u="none" strike="noStrike">
                <a:solidFill>
                  <a:schemeClr val="dk1"/>
                </a:solidFill>
                <a:effectLst/>
                <a:uFillTx/>
                <a:latin typeface="Aptos"/>
              </a:rPr>
              <a:t> Copernicus correctly placed the Sun at the centre.</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Kepler's Perfection (1609):</a:t>
            </a:r>
            <a:r>
              <a:rPr lang="en-IN" sz="2800" b="0" u="none" strike="noStrike">
                <a:solidFill>
                  <a:schemeClr val="dk1"/>
                </a:solidFill>
                <a:effectLst/>
                <a:uFillTx/>
                <a:latin typeface="Aptos"/>
              </a:rPr>
              <a:t> Johannes Kepler proved exactly how the planets moved. He knew that Jupiter was exactly 5.2 times further from the Sun than Earth.</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By the 1600s, astronomers had a flawless, mathematically perfect map of the solar system... but they still had no idea how many kilometers were in 1 Astronomical Unit (AU). The map had no legend</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Solar System</a:t>
            </a:r>
            <a:endParaRPr lang="en-GB" sz="4400" b="0" u="none" strike="noStrike">
              <a:solidFill>
                <a:schemeClr val="dk1"/>
              </a:solidFill>
              <a:effectLst/>
              <a:uFillTx/>
              <a:latin typeface="Aptos Display"/>
            </a:endParaRPr>
          </a:p>
        </p:txBody>
      </p:sp>
      <p:pic>
        <p:nvPicPr>
          <p:cNvPr id="97" name="Picture 6" descr="Solar system: Early views « KaiserScience"/>
          <p:cNvPicPr/>
          <p:nvPr/>
        </p:nvPicPr>
        <p:blipFill>
          <a:blip r:embed="rId1"/>
          <a:stretch/>
        </p:blipFill>
        <p:spPr>
          <a:xfrm>
            <a:off x="1854000" y="1307880"/>
            <a:ext cx="8483400" cy="52858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Johannes Kepler &amp; The End of Perfect Circles</a:t>
            </a:r>
            <a:endParaRPr lang="en-GB" sz="4400" b="0" u="none" strike="noStrike">
              <a:solidFill>
                <a:schemeClr val="dk1"/>
              </a:solidFill>
              <a:effectLst/>
              <a:uFillTx/>
              <a:latin typeface="Aptos Display"/>
            </a:endParaRPr>
          </a:p>
        </p:txBody>
      </p:sp>
      <p:sp>
        <p:nvSpPr>
          <p:cNvPr id="99" name="PlaceHolder 2"/>
          <p:cNvSpPr>
            <a:spLocks noGrp="1"/>
          </p:cNvSpPr>
          <p:nvPr>
            <p:ph/>
          </p:nvPr>
        </p:nvSpPr>
        <p:spPr>
          <a:xfrm>
            <a:off x="838080" y="1924920"/>
            <a:ext cx="10514880" cy="4703760"/>
          </a:xfrm>
          <a:prstGeom prst="rect">
            <a:avLst/>
          </a:prstGeom>
          <a:blipFill rotWithShape="0">
            <a:blip r:embed="rId1"/>
            <a:stretch/>
          </a:blip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US" sz="2800" b="0" u="none" strike="noStrike">
                <a:solidFill>
                  <a:srgbClr val="FFFFFF">
                    <a:alpha val="1000"/>
                  </a:srgbClr>
                </a:solidFill>
                <a:effectLst/>
                <a:uFillTx/>
                <a:latin typeface="Aptos"/>
              </a:rPr>
              <a:t> </a:t>
            </a: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Kepler's laws of planetary motion </a:t>
            </a:r>
            <a:endParaRPr lang="en-GB" sz="4400" b="0" u="none" strike="noStrike">
              <a:solidFill>
                <a:schemeClr val="dk1"/>
              </a:solidFill>
              <a:effectLst/>
              <a:uFillTx/>
              <a:latin typeface="Aptos Display"/>
            </a:endParaRPr>
          </a:p>
        </p:txBody>
      </p:sp>
      <p:pic>
        <p:nvPicPr>
          <p:cNvPr id="101" name="Picture 4" descr="Kepler's Laws Diagram | Quizlet"/>
          <p:cNvPicPr/>
          <p:nvPr/>
        </p:nvPicPr>
        <p:blipFill>
          <a:blip r:embed="rId1"/>
          <a:stretch/>
        </p:blipFill>
        <p:spPr>
          <a:xfrm>
            <a:off x="1945080" y="1725840"/>
            <a:ext cx="8301240" cy="513144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28080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Asteroids vs Comets</a:t>
            </a:r>
            <a:endParaRPr lang="en-GB" sz="4400" b="0" u="none" strike="noStrike">
              <a:solidFill>
                <a:schemeClr val="dk1"/>
              </a:solidFill>
              <a:effectLst/>
              <a:uFillTx/>
              <a:latin typeface="Aptos Display"/>
            </a:endParaRPr>
          </a:p>
        </p:txBody>
      </p:sp>
      <p:sp>
        <p:nvSpPr>
          <p:cNvPr id="103" name="PlaceHolder 2"/>
          <p:cNvSpPr>
            <a:spLocks noGrp="1"/>
          </p:cNvSpPr>
          <p:nvPr>
            <p:ph/>
          </p:nvPr>
        </p:nvSpPr>
        <p:spPr>
          <a:xfrm>
            <a:off x="421200" y="1933920"/>
            <a:ext cx="11585520" cy="435060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Asteroids (The Rocky Leftovers):</a:t>
            </a:r>
            <a:r>
              <a:rPr lang="en-IN" sz="2800" b="0" u="none" strike="noStrike">
                <a:solidFill>
                  <a:schemeClr val="dk1"/>
                </a:solidFill>
                <a:effectLst/>
                <a:uFillTx/>
                <a:latin typeface="Aptos"/>
              </a:rPr>
              <a:t> Mostly found in the Asteroid Belt between Mars and Jupiter. Because they formed </a:t>
            </a:r>
            <a:r>
              <a:rPr lang="en-IN" sz="2800" b="0" i="1" u="none" strike="noStrike">
                <a:solidFill>
                  <a:schemeClr val="dk1"/>
                </a:solidFill>
                <a:effectLst/>
                <a:uFillTx/>
                <a:latin typeface="Aptos"/>
              </a:rPr>
              <a:t>inside</a:t>
            </a:r>
            <a:r>
              <a:rPr lang="en-IN" sz="2800" b="0" u="none" strike="noStrike">
                <a:solidFill>
                  <a:schemeClr val="dk1"/>
                </a:solidFill>
                <a:effectLst/>
                <a:uFillTx/>
                <a:latin typeface="Aptos"/>
              </a:rPr>
              <a:t> the Frost Line, they are made of dry rock and heavy metals.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Comets (The Icy Leftovers):</a:t>
            </a:r>
            <a:r>
              <a:rPr lang="en-IN" sz="2800" b="0" u="none" strike="noStrike">
                <a:solidFill>
                  <a:schemeClr val="dk1"/>
                </a:solidFill>
                <a:effectLst/>
                <a:uFillTx/>
                <a:latin typeface="Aptos"/>
              </a:rPr>
              <a:t> Found in the Kuiper Belt (past Neptune) and the Oort Cloud. Because they formed </a:t>
            </a:r>
            <a:r>
              <a:rPr lang="en-IN" sz="2800" b="0" i="1" u="none" strike="noStrike">
                <a:solidFill>
                  <a:schemeClr val="dk1"/>
                </a:solidFill>
                <a:effectLst/>
                <a:uFillTx/>
                <a:latin typeface="Aptos"/>
              </a:rPr>
              <a:t>outside</a:t>
            </a:r>
            <a:r>
              <a:rPr lang="en-IN" sz="2800" b="0" u="none" strike="noStrike">
                <a:solidFill>
                  <a:schemeClr val="dk1"/>
                </a:solidFill>
                <a:effectLst/>
                <a:uFillTx/>
                <a:latin typeface="Aptos"/>
              </a:rPr>
              <a:t> the Frost Line, they are "dirty snowballs"—mixtures of water ice, frozen gases, and dark dust.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
          <p:cNvPicPr/>
          <p:nvPr/>
        </p:nvPicPr>
        <p:blipFill>
          <a:blip r:embed="rId1"/>
          <a:stretch/>
        </p:blipFill>
        <p:spPr>
          <a:xfrm>
            <a:off x="838080" y="1825560"/>
            <a:ext cx="10514880" cy="4350600"/>
          </a:xfrm>
          <a:prstGeom prst="rect">
            <a:avLst/>
          </a:prstGeom>
          <a:noFill/>
          <a:ln w="0">
            <a:noFill/>
          </a:ln>
        </p:spPr>
      </p:pic>
      <p:pic>
        <p:nvPicPr>
          <p:cNvPr id="105" name=""/>
          <p:cNvPicPr/>
          <p:nvPr/>
        </p:nvPicPr>
        <p:blipFill>
          <a:blip r:embed="rId2"/>
          <a:stretch/>
        </p:blipFill>
        <p:spPr>
          <a:xfrm>
            <a:off x="228600" y="228600"/>
            <a:ext cx="6171480" cy="6171480"/>
          </a:xfrm>
          <a:prstGeom prst="rect">
            <a:avLst/>
          </a:prstGeom>
          <a:noFill/>
          <a:ln w="0">
            <a:noFill/>
          </a:ln>
        </p:spPr>
      </p:pic>
      <p:pic>
        <p:nvPicPr>
          <p:cNvPr id="106" name=""/>
          <p:cNvPicPr/>
          <p:nvPr/>
        </p:nvPicPr>
        <p:blipFill>
          <a:blip r:embed="rId3"/>
          <a:stretch/>
        </p:blipFill>
        <p:spPr>
          <a:xfrm>
            <a:off x="6400440" y="457200"/>
            <a:ext cx="5687280" cy="571896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2766240"/>
            <a:ext cx="10514880" cy="132480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0" u="none" strike="noStrike">
                <a:solidFill>
                  <a:schemeClr val="dk1"/>
                </a:solidFill>
                <a:effectLst/>
                <a:uFillTx/>
                <a:latin typeface="Aptos Display"/>
              </a:rPr>
              <a:t>What else is there to see in the night sky??!!</a:t>
            </a:r>
            <a:endParaRPr lang="en-GB" sz="4400" b="0" u="none" strike="noStrike">
              <a:solidFill>
                <a:schemeClr val="dk1"/>
              </a:solidFill>
              <a:effectLst/>
              <a:uFillTx/>
              <a:latin typeface="Aptos Display"/>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1076040"/>
            <a:ext cx="10514880" cy="4704840"/>
          </a:xfrm>
          <a:prstGeom prst="rect">
            <a:avLst/>
          </a:prstGeom>
          <a:noFill/>
          <a:ln w="0">
            <a:noFill/>
          </a:ln>
        </p:spPr>
        <p:txBody>
          <a:bodyPr lIns="91440" tIns="45720" rIns="91440" bIns="45720" anchor="ctr">
            <a:normAutofit/>
          </a:bodyPr>
          <a:p>
            <a:pPr indent="0" algn="ctr" defTabSz="914400">
              <a:lnSpc>
                <a:spcPct val="90000"/>
              </a:lnSpc>
              <a:buNone/>
              <a:tabLst>
                <a:tab pos="0" algn="l"/>
              </a:tabLst>
            </a:pPr>
            <a:r>
              <a:rPr lang="en-US" sz="4400" b="0" u="none" strike="noStrike">
                <a:solidFill>
                  <a:schemeClr val="dk1"/>
                </a:solidFill>
                <a:effectLst/>
                <a:uFillTx/>
                <a:latin typeface="Aptos Display"/>
              </a:rPr>
              <a:t>Yes!! You guessed it right </a:t>
            </a:r>
            <a:br>
              <a:rPr sz="4400"/>
            </a:br>
            <a:br>
              <a:rPr sz="4400"/>
            </a:br>
            <a:r>
              <a:rPr lang="en-US" sz="4400" b="0" u="none" strike="noStrike">
                <a:solidFill>
                  <a:schemeClr val="dk1"/>
                </a:solidFill>
                <a:effectLst/>
                <a:uFillTx/>
                <a:latin typeface="Aptos Display"/>
              </a:rPr>
              <a:t>Stars!!!</a:t>
            </a:r>
            <a:br>
              <a:rPr sz="4400"/>
            </a:br>
            <a:br>
              <a:rPr sz="4400"/>
            </a:br>
            <a:r>
              <a:rPr lang="en-US" sz="4400" b="0" u="none" strike="noStrike">
                <a:solidFill>
                  <a:schemeClr val="dk1"/>
                </a:solidFill>
                <a:effectLst/>
                <a:uFillTx/>
                <a:latin typeface="Aptos Display"/>
              </a:rPr>
              <a:t>But </a:t>
            </a:r>
            <a:r>
              <a:rPr lang="en-IN" sz="4400" b="0" u="none" strike="noStrike">
                <a:solidFill>
                  <a:schemeClr val="dk1"/>
                </a:solidFill>
                <a:effectLst/>
                <a:uFillTx/>
                <a:latin typeface="Aptos Display"/>
              </a:rPr>
              <a:t>Why Did the Ancients Look Up?</a:t>
            </a:r>
            <a:endParaRPr lang="en-GB" sz="4400" b="0" u="none" strike="noStrike">
              <a:solidFill>
                <a:schemeClr val="dk1"/>
              </a:solidFill>
              <a:effectLst/>
              <a:uFillTx/>
              <a:latin typeface="Aptos Display"/>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p:nvPr>
        </p:nvSpPr>
        <p:spPr>
          <a:xfrm>
            <a:off x="838080" y="417240"/>
            <a:ext cx="10514880" cy="6023160"/>
          </a:xfrm>
          <a:prstGeom prst="rect">
            <a:avLst/>
          </a:prstGeom>
          <a:noFill/>
          <a:ln w="0">
            <a:noFill/>
          </a:ln>
        </p:spPr>
        <p:txBody>
          <a:bodyPr lIns="91440" tIns="45720" rIns="91440" bIns="45720" anchor="t">
            <a:normAutofit fontScale="92500" lnSpcReduction="9999"/>
          </a:bodyPr>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The Ultimate Clock and Calendar:</a:t>
            </a:r>
            <a:r>
              <a:rPr lang="en-IN" sz="2800" b="0" u="none" strike="noStrike">
                <a:solidFill>
                  <a:schemeClr val="dk1"/>
                </a:solidFill>
                <a:effectLst/>
                <a:uFillTx/>
                <a:latin typeface="Aptos"/>
              </a:rPr>
              <a:t> For ancient civilizations, reading the stars was not just philosophy; it was a matter of survival.</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Agriculture:</a:t>
            </a:r>
            <a:r>
              <a:rPr lang="en-IN" sz="2800" b="0" u="none" strike="noStrike">
                <a:solidFill>
                  <a:schemeClr val="dk1"/>
                </a:solidFill>
                <a:effectLst/>
                <a:uFillTx/>
                <a:latin typeface="Aptos"/>
              </a:rPr>
              <a:t> The ancient Egyptians knew that when the bright star Sirius first became visible just before sunrise, the Nile was about to flood, bringing fertile soil.</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Navigation:</a:t>
            </a:r>
            <a:r>
              <a:rPr lang="en-IN" sz="2800" b="0" u="none" strike="noStrike">
                <a:solidFill>
                  <a:schemeClr val="dk1"/>
                </a:solidFill>
                <a:effectLst/>
                <a:uFillTx/>
                <a:latin typeface="Aptos"/>
              </a:rPr>
              <a:t> Polynesian wayfinders memorized the rising and setting points of specific stars to navigate thousands of miles across the open Pacific Ocean without a compass.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Mythology:</a:t>
            </a:r>
            <a:r>
              <a:rPr lang="en-IN" sz="2800" b="0" u="none" strike="noStrike">
                <a:solidFill>
                  <a:schemeClr val="dk1"/>
                </a:solidFill>
                <a:effectLst/>
                <a:uFillTx/>
                <a:latin typeface="Aptos"/>
              </a:rPr>
              <a:t> To remember these complex stellar clocks, humans naturally applied "Pattern Recognition," projecting their heroes, gods, and monsters onto the scattered dots of light.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0"/>
            <a:ext cx="10514880" cy="97524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Drawing Lines in the Sky</a:t>
            </a:r>
            <a:endParaRPr lang="en-GB" sz="4400" b="0" u="none" strike="noStrike">
              <a:solidFill>
                <a:schemeClr val="dk1"/>
              </a:solidFill>
              <a:effectLst/>
              <a:uFillTx/>
              <a:latin typeface="Aptos Display"/>
            </a:endParaRPr>
          </a:p>
        </p:txBody>
      </p:sp>
      <p:sp>
        <p:nvSpPr>
          <p:cNvPr id="111" name="PlaceHolder 2"/>
          <p:cNvSpPr>
            <a:spLocks noGrp="1"/>
          </p:cNvSpPr>
          <p:nvPr>
            <p:ph/>
          </p:nvPr>
        </p:nvSpPr>
        <p:spPr>
          <a:xfrm>
            <a:off x="471240" y="894240"/>
            <a:ext cx="4329000" cy="5963400"/>
          </a:xfrm>
          <a:prstGeom prst="rect">
            <a:avLst/>
          </a:prstGeom>
          <a:noFill/>
          <a:ln w="0">
            <a:noFill/>
          </a:ln>
        </p:spPr>
        <p:txBody>
          <a:bodyPr lIns="91440" tIns="45720" rIns="91440" bIns="45720" anchor="t">
            <a:normAutofit fontScale="77500" lnSpcReduction="19999"/>
          </a:bodyPr>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Asterism (The Shape):</a:t>
            </a:r>
            <a:r>
              <a:rPr lang="en-IN" sz="2800" b="0" u="none" strike="noStrike">
                <a:solidFill>
                  <a:schemeClr val="dk1"/>
                </a:solidFill>
                <a:effectLst/>
                <a:uFillTx/>
                <a:latin typeface="Aptos"/>
              </a:rPr>
              <a:t> A recognizable pattern of stars.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Constellation (The Territory):</a:t>
            </a:r>
            <a:r>
              <a:rPr lang="en-IN" sz="2800" b="0" u="none" strike="noStrike">
                <a:solidFill>
                  <a:schemeClr val="dk1"/>
                </a:solidFill>
                <a:effectLst/>
                <a:uFillTx/>
                <a:latin typeface="Aptos"/>
              </a:rPr>
              <a:t> In 1922, the International Astronomical Union (IAU) divided the entire night sky into </a:t>
            </a:r>
            <a:r>
              <a:rPr lang="en-IN" sz="2800" b="1" u="none" strike="noStrike">
                <a:solidFill>
                  <a:schemeClr val="dk1"/>
                </a:solidFill>
                <a:effectLst/>
                <a:uFillTx/>
                <a:latin typeface="Aptos"/>
              </a:rPr>
              <a:t>88 official constellations</a:t>
            </a:r>
            <a:r>
              <a:rPr lang="en-IN" sz="2800" b="0" u="none" strike="noStrike">
                <a:solidFill>
                  <a:schemeClr val="dk1"/>
                </a:solidFill>
                <a:effectLst/>
                <a:uFillTx/>
                <a:latin typeface="Aptos"/>
              </a:rPr>
              <a: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IN" sz="2800" b="0" i="1" u="none" strike="noStrike">
                <a:solidFill>
                  <a:schemeClr val="dk1"/>
                </a:solidFill>
                <a:effectLst/>
                <a:uFillTx/>
                <a:latin typeface="Aptos"/>
              </a:rPr>
              <a:t>Example:</a:t>
            </a:r>
            <a:r>
              <a:rPr lang="en-IN" sz="2800" b="0" u="none" strike="noStrike">
                <a:solidFill>
                  <a:schemeClr val="dk1"/>
                </a:solidFill>
                <a:effectLst/>
                <a:uFillTx/>
                <a:latin typeface="Aptos"/>
              </a:rPr>
              <a:t> Ursa Major (The   Great Bear).</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The Modern Definition:</a:t>
            </a:r>
            <a:r>
              <a:rPr lang="en-IN" sz="2800" b="0" u="none" strike="noStrike">
                <a:solidFill>
                  <a:schemeClr val="dk1"/>
                </a:solidFill>
                <a:effectLst/>
                <a:uFillTx/>
                <a:latin typeface="Aptos"/>
              </a:rPr>
              <a:t> Today, a constellation is not just the stick-figure picture. It is a specific, bordered region of the sky. Every single star, galaxy, or black hole falls within the borders of one of these 88 puzzle pieces.</a:t>
            </a:r>
            <a:endParaRPr lang="en-GB" sz="2800" b="0" u="none" strike="noStrike">
              <a:solidFill>
                <a:schemeClr val="dk1"/>
              </a:solidFill>
              <a:effectLst/>
              <a:uFillTx/>
              <a:latin typeface="Aptos"/>
            </a:endParaRPr>
          </a:p>
        </p:txBody>
      </p:sp>
      <p:pic>
        <p:nvPicPr>
          <p:cNvPr id="112" name="Picture 6" descr="Virgo (constellation) - Wikipedia"/>
          <p:cNvPicPr/>
          <p:nvPr/>
        </p:nvPicPr>
        <p:blipFill>
          <a:blip r:embed="rId1"/>
          <a:stretch/>
        </p:blipFill>
        <p:spPr>
          <a:xfrm>
            <a:off x="5274720" y="1207800"/>
            <a:ext cx="6417360" cy="544500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IN" sz="4400" b="0" u="none" strike="noStrike">
                <a:solidFill>
                  <a:schemeClr val="dk1"/>
                </a:solidFill>
                <a:effectLst/>
                <a:uFillTx/>
                <a:latin typeface="Aptos Display"/>
              </a:rPr>
              <a:t>The Celestial Sphere</a:t>
            </a:r>
            <a:endParaRPr lang="en-GB" sz="4400" b="0" u="none" strike="noStrike">
              <a:solidFill>
                <a:schemeClr val="dk1"/>
              </a:solidFill>
              <a:effectLst/>
              <a:uFillTx/>
              <a:latin typeface="Aptos Display"/>
            </a:endParaRPr>
          </a:p>
        </p:txBody>
      </p:sp>
      <p:sp>
        <p:nvSpPr>
          <p:cNvPr id="114" name="PlaceHolder 2"/>
          <p:cNvSpPr>
            <a:spLocks noGrp="1"/>
          </p:cNvSpPr>
          <p:nvPr>
            <p:ph/>
          </p:nvPr>
        </p:nvSpPr>
        <p:spPr>
          <a:xfrm>
            <a:off x="570960" y="2031120"/>
            <a:ext cx="6620040" cy="435060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North/South Celestial Poles:</a:t>
            </a:r>
            <a:r>
              <a:rPr lang="en-IN" sz="2800" b="0" u="none" strike="noStrike">
                <a:solidFill>
                  <a:schemeClr val="dk1"/>
                </a:solidFill>
                <a:effectLst/>
                <a:uFillTx/>
                <a:latin typeface="Aptos"/>
              </a:rPr>
              <a:t> The exact points in the sky directly above Earth's physical poles. As Earth spins, the entire sky appears to rotate around these points.</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Celestial Equator:</a:t>
            </a:r>
            <a:r>
              <a:rPr lang="en-IN" sz="2800" b="0" u="none" strike="noStrike">
                <a:solidFill>
                  <a:schemeClr val="dk1"/>
                </a:solidFill>
                <a:effectLst/>
                <a:uFillTx/>
                <a:latin typeface="Aptos"/>
              </a:rPr>
              <a:t> Earth's equator projected infinitely outward into space.</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The Ecliptic:</a:t>
            </a:r>
            <a:r>
              <a:rPr lang="en-IN" sz="2800" b="0" u="none" strike="noStrike">
                <a:solidFill>
                  <a:schemeClr val="dk1"/>
                </a:solidFill>
                <a:effectLst/>
                <a:uFillTx/>
                <a:latin typeface="Aptos"/>
              </a:rPr>
              <a:t> The apparent path the Sun takes across the stars over the course of a year.</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115" name="Picture 4" descr="Starry Messenger: The Celestial Sphere"/>
          <p:cNvPicPr/>
          <p:nvPr/>
        </p:nvPicPr>
        <p:blipFill>
          <a:blip r:embed="rId1"/>
          <a:stretch/>
        </p:blipFill>
        <p:spPr>
          <a:xfrm>
            <a:off x="7089120" y="1392840"/>
            <a:ext cx="4686840" cy="498888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000" b="0" u="none" strike="noStrike">
                <a:solidFill>
                  <a:schemeClr val="dk1"/>
                </a:solidFill>
                <a:effectLst/>
                <a:uFillTx/>
                <a:latin typeface="Aptos Display"/>
              </a:rPr>
              <a:t>Time keeping : </a:t>
            </a:r>
            <a:r>
              <a:rPr lang="en-IN" sz="4000" b="0" u="none" strike="noStrike">
                <a:solidFill>
                  <a:schemeClr val="dk1"/>
                </a:solidFill>
                <a:effectLst/>
                <a:uFillTx/>
                <a:latin typeface="Aptos Display"/>
              </a:rPr>
              <a:t>Solar Time vs. Star Time (Sidereal)</a:t>
            </a:r>
            <a:endParaRPr lang="en-GB" sz="4000" b="0" u="none" strike="noStrike">
              <a:solidFill>
                <a:schemeClr val="dk1"/>
              </a:solidFill>
              <a:effectLst/>
              <a:uFillTx/>
              <a:latin typeface="Aptos Display"/>
            </a:endParaRPr>
          </a:p>
        </p:txBody>
      </p:sp>
      <p:sp>
        <p:nvSpPr>
          <p:cNvPr id="117"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lnSpcReduction="9999"/>
          </a:bodyPr>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Google Sans Text"/>
              </a:rPr>
              <a:t>The Sidereal Day (Star Time):</a:t>
            </a:r>
            <a:r>
              <a:rPr lang="en-IN" sz="2800" b="0" u="none" strike="noStrike">
                <a:solidFill>
                  <a:schemeClr val="dk1"/>
                </a:solidFill>
                <a:effectLst/>
                <a:uFillTx/>
                <a:latin typeface="Google Sans Text"/>
              </a:rPr>
              <a:t> How long it takes the Earth to spin exactly 360 degrees on its axis.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IN" sz="2800" b="0" i="1" u="none" strike="noStrike">
                <a:solidFill>
                  <a:schemeClr val="dk1"/>
                </a:solidFill>
                <a:effectLst/>
                <a:uFillTx/>
                <a:latin typeface="Google Sans Text"/>
              </a:rPr>
              <a:t>Length:</a:t>
            </a:r>
            <a:r>
              <a:rPr lang="en-IN" sz="2800" b="0" u="none" strike="noStrike">
                <a:solidFill>
                  <a:schemeClr val="dk1"/>
                </a:solidFill>
                <a:effectLst/>
                <a:uFillTx/>
                <a:latin typeface="Google Sans Text"/>
              </a:rPr>
              <a:t> </a:t>
            </a:r>
            <a:r>
              <a:rPr lang="en-IN" sz="2800" b="1" u="none" strike="noStrike">
                <a:solidFill>
                  <a:schemeClr val="dk1"/>
                </a:solidFill>
                <a:effectLst/>
                <a:uFillTx/>
                <a:latin typeface="Google Sans Text"/>
              </a:rPr>
              <a:t>23 hours, 56 minutes, and 4 seconds</a:t>
            </a:r>
            <a:r>
              <a:rPr lang="en-IN" sz="2800" b="0" u="none" strike="noStrike">
                <a:solidFill>
                  <a:schemeClr val="dk1"/>
                </a:solidFill>
                <a:effectLst/>
                <a:uFillTx/>
                <a:latin typeface="Google Sans Text"/>
              </a:rPr>
              <a: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Google Sans Text"/>
              </a:rPr>
              <a:t>If you measure when a star crosses your meridian, it will take exactly this long to cross it again.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Google Sans Text"/>
              </a:rPr>
              <a:t>The Solar Day (Sun Time):</a:t>
            </a:r>
            <a:r>
              <a:rPr lang="en-IN" sz="2800" b="0" u="none" strike="noStrike">
                <a:solidFill>
                  <a:schemeClr val="dk1"/>
                </a:solidFill>
                <a:effectLst/>
                <a:uFillTx/>
                <a:latin typeface="Google Sans Text"/>
              </a:rPr>
              <a:t> How long it takes for the </a:t>
            </a:r>
            <a:r>
              <a:rPr lang="en-IN" sz="2800" b="0" i="1" u="none" strike="noStrike">
                <a:solidFill>
                  <a:schemeClr val="dk1"/>
                </a:solidFill>
                <a:effectLst/>
                <a:uFillTx/>
                <a:latin typeface="Google Sans Text"/>
              </a:rPr>
              <a:t>Sun</a:t>
            </a:r>
            <a:r>
              <a:rPr lang="en-IN" sz="2800" b="0" u="none" strike="noStrike">
                <a:solidFill>
                  <a:schemeClr val="dk1"/>
                </a:solidFill>
                <a:effectLst/>
                <a:uFillTx/>
                <a:latin typeface="Google Sans Text"/>
              </a:rPr>
              <a:t> to cross your meridian, leave, and cross it again.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IN" sz="2800" b="0" i="1" u="none" strike="noStrike">
                <a:solidFill>
                  <a:schemeClr val="dk1"/>
                </a:solidFill>
                <a:effectLst/>
                <a:uFillTx/>
                <a:latin typeface="Google Sans Text"/>
              </a:rPr>
              <a:t>Length:</a:t>
            </a:r>
            <a:r>
              <a:rPr lang="en-IN" sz="2800" b="0" u="none" strike="noStrike">
                <a:solidFill>
                  <a:schemeClr val="dk1"/>
                </a:solidFill>
                <a:effectLst/>
                <a:uFillTx/>
                <a:latin typeface="Google Sans Text"/>
              </a:rPr>
              <a:t> </a:t>
            </a:r>
            <a:r>
              <a:rPr lang="en-IN" sz="2800" b="1" u="none" strike="noStrike">
                <a:solidFill>
                  <a:schemeClr val="dk1"/>
                </a:solidFill>
                <a:effectLst/>
                <a:uFillTx/>
                <a:latin typeface="Google Sans Text"/>
              </a:rPr>
              <a:t>Exactly 24 hours</a:t>
            </a:r>
            <a:r>
              <a:rPr lang="en-IN" sz="2800" b="0" u="none" strike="noStrike">
                <a:solidFill>
                  <a:schemeClr val="dk1"/>
                </a:solidFill>
                <a:effectLst/>
                <a:uFillTx/>
                <a:latin typeface="Google Sans Text"/>
              </a:rPr>
              <a: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8" name=""/>
          <p:cNvPicPr/>
          <p:nvPr/>
        </p:nvPicPr>
        <p:blipFill>
          <a:blip r:embed="rId1">
            <a:extLst>
              <a:ext uri="{96DAC541-7B7A-43D3-8B79-37D633B846F1}">
                <asvg:svgBlip xmlns:asvg="http://schemas.microsoft.com/office/drawing/2016/SVG/main" r:embed="rId2"/>
              </a:ext>
            </a:extLst>
          </a:blip>
          <a:stretch/>
        </p:blipFill>
        <p:spPr>
          <a:xfrm>
            <a:off x="0" y="379800"/>
            <a:ext cx="6185160" cy="6249240"/>
          </a:xfrm>
          <a:prstGeom prst="rect">
            <a:avLst/>
          </a:prstGeom>
          <a:noFill/>
          <a:ln w="0">
            <a:noFill/>
          </a:ln>
        </p:spPr>
      </p:pic>
      <p:pic>
        <p:nvPicPr>
          <p:cNvPr id="119" name=""/>
          <p:cNvPicPr/>
          <p:nvPr/>
        </p:nvPicPr>
        <p:blipFill>
          <a:blip r:embed="rId3"/>
          <a:stretch/>
        </p:blipFill>
        <p:spPr>
          <a:xfrm>
            <a:off x="6158880" y="914400"/>
            <a:ext cx="6413760" cy="480024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Two Types of "Months"</a:t>
            </a:r>
            <a:endParaRPr lang="en-GB" sz="4400" b="0" u="none" strike="noStrike">
              <a:solidFill>
                <a:schemeClr val="dk1"/>
              </a:solidFill>
              <a:effectLst/>
              <a:uFillTx/>
              <a:latin typeface="Aptos Display"/>
            </a:endParaRPr>
          </a:p>
        </p:txBody>
      </p:sp>
      <p:sp>
        <p:nvSpPr>
          <p:cNvPr id="121" name="PlaceHolder 2"/>
          <p:cNvSpPr>
            <a:spLocks noGrp="1"/>
          </p:cNvSpPr>
          <p:nvPr>
            <p:ph/>
          </p:nvPr>
        </p:nvSpPr>
        <p:spPr>
          <a:xfrm>
            <a:off x="838080" y="1825560"/>
            <a:ext cx="10514880" cy="435060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Google Sans Text"/>
              </a:rPr>
              <a:t>The Sidereal Month (The True Orbit):</a:t>
            </a:r>
            <a:r>
              <a:rPr lang="en-IN" sz="2800" b="0" u="none" strike="noStrike">
                <a:solidFill>
                  <a:schemeClr val="dk1"/>
                </a:solidFill>
                <a:effectLst/>
                <a:uFillTx/>
                <a:latin typeface="Google Sans Text"/>
              </a:rPr>
              <a:t> How long it takes the Moon to complete one 360 degrees orbit around the Earth relative to the background stars.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Google Sans Text"/>
              </a:rPr>
              <a:t>The Synodic Month (The Lunar Phases):</a:t>
            </a:r>
            <a:r>
              <a:rPr lang="en-IN" sz="2800" b="0" u="none" strike="noStrike">
                <a:solidFill>
                  <a:schemeClr val="dk1"/>
                </a:solidFill>
                <a:effectLst/>
                <a:uFillTx/>
                <a:latin typeface="Google Sans Text"/>
              </a:rPr>
              <a:t> How long it takes to go from one Full Moon to the next Full Moon.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indent="0" algn="ctr" defTabSz="914400">
              <a:lnSpc>
                <a:spcPct val="90000"/>
              </a:lnSpc>
              <a:spcBef>
                <a:spcPts val="1001"/>
              </a:spcBef>
              <a:buNone/>
              <a:tabLst>
                <a:tab pos="0" algn="l"/>
              </a:tabLst>
            </a:pPr>
            <a:r>
              <a:rPr lang="en-US" sz="4800" b="0" u="none" strike="noStrike">
                <a:solidFill>
                  <a:schemeClr val="dk1"/>
                </a:solidFill>
                <a:effectLst/>
                <a:uFillTx/>
                <a:latin typeface="Aptos"/>
              </a:rPr>
              <a:t>Which one is longer????</a:t>
            </a:r>
            <a:endParaRPr lang="en-GB" sz="4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878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Calendar Problem</a:t>
            </a:r>
            <a:endParaRPr lang="en-GB" sz="4400" b="0" u="none" strike="noStrike">
              <a:solidFill>
                <a:schemeClr val="dk1"/>
              </a:solidFill>
              <a:effectLst/>
              <a:uFillTx/>
              <a:latin typeface="Aptos Display"/>
            </a:endParaRPr>
          </a:p>
        </p:txBody>
      </p:sp>
      <p:sp>
        <p:nvSpPr>
          <p:cNvPr id="123" name="PlaceHolder 2"/>
          <p:cNvSpPr>
            <a:spLocks noGrp="1"/>
          </p:cNvSpPr>
          <p:nvPr>
            <p:ph/>
          </p:nvPr>
        </p:nvSpPr>
        <p:spPr>
          <a:xfrm>
            <a:off x="838080" y="1143000"/>
            <a:ext cx="10514880" cy="435060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The Tropical Year:</a:t>
            </a:r>
            <a:r>
              <a:rPr lang="en-IN" sz="2000" b="0" u="none" strike="noStrike">
                <a:solidFill>
                  <a:schemeClr val="dk1"/>
                </a:solidFill>
                <a:effectLst/>
                <a:uFillTx/>
                <a:latin typeface="Aptos"/>
              </a:rPr>
              <a:t> Our calendar is based on the seasons (from one Vernal Equinox to the next). Because of the Earth's "wobble" (Precession) that we just learned about, this year is slightly shorter than a true orbital year.</a:t>
            </a:r>
            <a:endParaRPr lang="en-GB"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000" b="1" u="none" strike="noStrike">
                <a:solidFill>
                  <a:schemeClr val="dk1"/>
                </a:solidFill>
                <a:effectLst/>
                <a:uFillTx/>
                <a:latin typeface="Aptos"/>
              </a:rPr>
              <a:t>The Messy Math:</a:t>
            </a:r>
            <a:r>
              <a:rPr lang="en-IN" sz="2000" b="0" u="none" strike="noStrike">
                <a:solidFill>
                  <a:schemeClr val="dk1"/>
                </a:solidFill>
                <a:effectLst/>
                <a:uFillTx/>
                <a:latin typeface="Aptos"/>
              </a:rPr>
              <a:t> A Tropical Year is not exactly 365 days. It is </a:t>
            </a:r>
            <a:r>
              <a:rPr lang="en-IN" sz="2000" b="1" u="none" strike="noStrike">
                <a:solidFill>
                  <a:schemeClr val="dk1"/>
                </a:solidFill>
                <a:effectLst/>
                <a:uFillTx/>
                <a:latin typeface="Aptos"/>
              </a:rPr>
              <a:t>365.2422 days</a:t>
            </a:r>
            <a:r>
              <a:rPr lang="en-IN" sz="2000" b="0" u="none" strike="noStrike">
                <a:solidFill>
                  <a:schemeClr val="dk1"/>
                </a:solidFill>
                <a:effectLst/>
                <a:uFillTx/>
                <a:latin typeface="Aptos"/>
              </a:rPr>
              <a:t>.</a:t>
            </a:r>
            <a:endParaRPr lang="en-GB"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000" b="1" u="none" strike="noStrike">
                <a:solidFill>
                  <a:schemeClr val="dk1"/>
                </a:solidFill>
                <a:effectLst/>
                <a:uFillTx/>
                <a:latin typeface="Aptos"/>
              </a:rPr>
              <a:t>The Julian Fix (46 B.C.):</a:t>
            </a:r>
            <a:r>
              <a:rPr lang="en-IN" sz="2000" b="0" u="none" strike="noStrike">
                <a:solidFill>
                  <a:schemeClr val="dk1"/>
                </a:solidFill>
                <a:effectLst/>
                <a:uFillTx/>
                <a:latin typeface="Aptos"/>
              </a:rPr>
              <a:t> Julius Caesar realized the seasons were drifting. He added an extra</a:t>
            </a:r>
            <a:endParaRPr lang="en-GB"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000" b="0" u="none" strike="noStrike">
                <a:solidFill>
                  <a:schemeClr val="dk1"/>
                </a:solidFill>
                <a:effectLst/>
                <a:uFillTx/>
                <a:latin typeface="Aptos"/>
              </a:rPr>
              <a:t>      day every 4 years (The Leap Year).</a:t>
            </a:r>
            <a:endParaRPr lang="en-GB"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000" b="0" u="none" strike="noStrike">
                <a:solidFill>
                  <a:schemeClr val="dk1"/>
                </a:solidFill>
                <a:effectLst/>
                <a:uFillTx/>
                <a:latin typeface="Aptos"/>
              </a:rPr>
              <a:t>This assumes a year is 365.25 days. That is mathematically 11 minutes too long! After 1,500 years, the calendar had drifted by 10 full days.</a:t>
            </a:r>
            <a:endParaRPr lang="en-GB"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000" b="1" u="none" strike="noStrike">
                <a:solidFill>
                  <a:schemeClr val="dk1"/>
                </a:solidFill>
                <a:effectLst/>
                <a:uFillTx/>
                <a:latin typeface="Aptos"/>
              </a:rPr>
              <a:t>The Gregorian Fix (1582 A.D.):</a:t>
            </a:r>
            <a:r>
              <a:rPr lang="en-IN" sz="2000" b="0" u="none" strike="noStrike">
                <a:solidFill>
                  <a:schemeClr val="dk1"/>
                </a:solidFill>
                <a:effectLst/>
                <a:uFillTx/>
                <a:latin typeface="Aptos"/>
              </a:rPr>
              <a:t> Pope Gregory XIII fixed the math with a brilliant rule: Every 4th year is a leap year, </a:t>
            </a:r>
            <a:r>
              <a:rPr lang="en-IN" sz="2000" b="0" i="1" u="none" strike="noStrike">
                <a:solidFill>
                  <a:schemeClr val="dk1"/>
                </a:solidFill>
                <a:effectLst/>
                <a:uFillTx/>
                <a:latin typeface="Aptos"/>
              </a:rPr>
              <a:t>except</a:t>
            </a:r>
            <a:r>
              <a:rPr lang="en-IN" sz="2000" b="0" u="none" strike="noStrike">
                <a:solidFill>
                  <a:schemeClr val="dk1"/>
                </a:solidFill>
                <a:effectLst/>
                <a:uFillTx/>
                <a:latin typeface="Aptos"/>
              </a:rPr>
              <a:t> century years (like 1700, 1800, 1900), </a:t>
            </a:r>
            <a:r>
              <a:rPr lang="en-IN" sz="2000" b="0" i="1" u="none" strike="noStrike">
                <a:solidFill>
                  <a:schemeClr val="dk1"/>
                </a:solidFill>
                <a:effectLst/>
                <a:uFillTx/>
                <a:latin typeface="Aptos"/>
              </a:rPr>
              <a:t>unless</a:t>
            </a:r>
            <a:r>
              <a:rPr lang="en-IN" sz="2000" b="0" u="none" strike="noStrike">
                <a:solidFill>
                  <a:schemeClr val="dk1"/>
                </a:solidFill>
                <a:effectLst/>
                <a:uFillTx/>
                <a:latin typeface="Aptos"/>
              </a:rPr>
              <a:t> they are divisible by 400 (like 2000).</a:t>
            </a:r>
            <a:endParaRPr lang="en-GB"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0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Naked-Eye Universe</a:t>
            </a:r>
            <a:endParaRPr lang="en-GB" sz="4400" b="0" u="none" strike="noStrike">
              <a:solidFill>
                <a:schemeClr val="dk1"/>
              </a:solidFill>
              <a:effectLst/>
              <a:uFillTx/>
              <a:latin typeface="Aptos Display"/>
            </a:endParaRPr>
          </a:p>
        </p:txBody>
      </p:sp>
      <p:sp>
        <p:nvSpPr>
          <p:cNvPr id="125"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lnSpcReduction="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We started with a stick in the ground in Egypt to measure the Earth, used shadows to measure the Moon, and used angles to find the Sun.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We mapped the chaotic sky onto a grid (Right Ascension and Declination) that every professional telescope uses today.</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We realized that our days, months, and years are not just numbers on a calendar; they are the direct physical consequence of spinning and orbiting through space.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1910</TotalTime>
  <Application>LibreOffice/26.2.3.2$Linux_X86_64 LibreOffice_project/d4d5ed47b6084125f28d269a5650105d54dde034</Application>
  <AppVersion>15.0000</AppVersion>
  <Words>1671</Words>
  <Paragraphs>146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2026-03-02T07:04:19Z</dcterms:created>
  <dc:creator>Gaurav Rachh</dc:creator>
  <dc:description/>
  <dc:language>en-US</dc:language>
  <cp:lastModifiedBy/>
  <dcterms:modified xsi:type="dcterms:W3CDTF">2026-06-10T02:39:44Z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28</vt:i4>
  </property>
</Properties>
</file>